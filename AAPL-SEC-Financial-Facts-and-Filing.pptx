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lacial Indifference Bold" charset="1" panose="000008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Inter" charset="1" panose="02000503000000020004"/>
      <p:regular r:id="rId17"/>
    </p:embeddedFont>
    <p:embeddedFont>
      <p:font typeface="Inter Semi-Bold" charset="1" panose="02000503000000020004"/>
      <p:regular r:id="rId18"/>
    </p:embeddedFon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https://github.com/Abdalla820/AAPL-SEC-Financial-Facts-and-Filing" TargetMode="External" Type="http://schemas.openxmlformats.org/officeDocument/2006/relationships/hyperlink"/><Relationship Id="rId14" Target="https://github.com/Abdalla820/AAPL-SEC-Financial-Facts-and-Filing" TargetMode="External" Type="http://schemas.openxmlformats.org/officeDocument/2006/relationships/hyperlink"/><Relationship Id="rId15" Target="https://abdalla-portfolio-pi.vercel.app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12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embeddings/oleObject1.bin" Type="http://schemas.openxmlformats.org/officeDocument/2006/relationships/oleObject"/><Relationship Id="rId12" Target="../media/image14.jpe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1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https://abdalla-portfolio-pi.vercel.app" TargetMode="External" Type="http://schemas.openxmlformats.org/officeDocument/2006/relationships/hyperlink"/><Relationship Id="rId16" Target="../media/image14.jpe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5977" y="6412716"/>
            <a:ext cx="7423223" cy="7411820"/>
          </a:xfrm>
          <a:custGeom>
            <a:avLst/>
            <a:gdLst/>
            <a:ahLst/>
            <a:cxnLst/>
            <a:rect r="r" b="b" t="t" l="l"/>
            <a:pathLst>
              <a:path h="7411820" w="7423223">
                <a:moveTo>
                  <a:pt x="0" y="0"/>
                </a:moveTo>
                <a:lnTo>
                  <a:pt x="7423222" y="0"/>
                </a:lnTo>
                <a:lnTo>
                  <a:pt x="7423222" y="7411820"/>
                </a:lnTo>
                <a:lnTo>
                  <a:pt x="0" y="7411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07608" y="3607298"/>
            <a:ext cx="6094828" cy="6094828"/>
          </a:xfrm>
          <a:custGeom>
            <a:avLst/>
            <a:gdLst/>
            <a:ahLst/>
            <a:cxnLst/>
            <a:rect r="r" b="b" t="t" l="l"/>
            <a:pathLst>
              <a:path h="6094828" w="6094828">
                <a:moveTo>
                  <a:pt x="0" y="0"/>
                </a:moveTo>
                <a:lnTo>
                  <a:pt x="6094827" y="0"/>
                </a:lnTo>
                <a:lnTo>
                  <a:pt x="6094827" y="6094828"/>
                </a:lnTo>
                <a:lnTo>
                  <a:pt x="0" y="6094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10401" y="4091173"/>
            <a:ext cx="7805796" cy="6647012"/>
            <a:chOff x="0" y="0"/>
            <a:chExt cx="1460623" cy="1243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0627" cy="1243791"/>
            </a:xfrm>
            <a:custGeom>
              <a:avLst/>
              <a:gdLst/>
              <a:ahLst/>
              <a:cxnLst/>
              <a:rect r="r" b="b" t="t" l="l"/>
              <a:pathLst>
                <a:path h="1243791" w="1460627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6"/>
              <a:stretch>
                <a:fillRect l="-13807" t="0" r="-13807" b="0"/>
              </a:stretch>
            </a:blipFill>
            <a:ln w="95250" cap="sq">
              <a:solidFill>
                <a:srgbClr val="0B3D4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3717" y="9258300"/>
            <a:ext cx="3977596" cy="2140341"/>
            <a:chOff x="0" y="0"/>
            <a:chExt cx="812800" cy="437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9859" cy="437367"/>
            </a:xfrm>
            <a:custGeom>
              <a:avLst/>
              <a:gdLst/>
              <a:ahLst/>
              <a:cxnLst/>
              <a:rect r="r" b="b" t="t" l="l"/>
              <a:pathLst>
                <a:path h="437367" w="789859">
                  <a:moveTo>
                    <a:pt x="551209" y="0"/>
                  </a:moveTo>
                  <a:lnTo>
                    <a:pt x="58391" y="0"/>
                  </a:lnTo>
                  <a:cubicBezTo>
                    <a:pt x="42905" y="0"/>
                    <a:pt x="28053" y="6152"/>
                    <a:pt x="17102" y="17102"/>
                  </a:cubicBezTo>
                  <a:cubicBezTo>
                    <a:pt x="6152" y="28053"/>
                    <a:pt x="0" y="42905"/>
                    <a:pt x="0" y="58391"/>
                  </a:cubicBezTo>
                  <a:lnTo>
                    <a:pt x="0" y="378976"/>
                  </a:lnTo>
                  <a:cubicBezTo>
                    <a:pt x="0" y="411224"/>
                    <a:pt x="26143" y="437367"/>
                    <a:pt x="58391" y="437367"/>
                  </a:cubicBezTo>
                  <a:lnTo>
                    <a:pt x="551209" y="437367"/>
                  </a:lnTo>
                  <a:cubicBezTo>
                    <a:pt x="588445" y="437367"/>
                    <a:pt x="624000" y="421869"/>
                    <a:pt x="649347" y="394591"/>
                  </a:cubicBezTo>
                  <a:lnTo>
                    <a:pt x="773053" y="261459"/>
                  </a:lnTo>
                  <a:cubicBezTo>
                    <a:pt x="795461" y="237344"/>
                    <a:pt x="795461" y="200023"/>
                    <a:pt x="773053" y="175908"/>
                  </a:cubicBezTo>
                  <a:lnTo>
                    <a:pt x="649347" y="42776"/>
                  </a:lnTo>
                  <a:cubicBezTo>
                    <a:pt x="624000" y="15498"/>
                    <a:pt x="588445" y="0"/>
                    <a:pt x="551209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98500" cy="47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0221603" y="9258300"/>
            <a:ext cx="3977596" cy="2140341"/>
            <a:chOff x="0" y="0"/>
            <a:chExt cx="812800" cy="4373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9859" cy="437367"/>
            </a:xfrm>
            <a:custGeom>
              <a:avLst/>
              <a:gdLst/>
              <a:ahLst/>
              <a:cxnLst/>
              <a:rect r="r" b="b" t="t" l="l"/>
              <a:pathLst>
                <a:path h="437367" w="789859">
                  <a:moveTo>
                    <a:pt x="551209" y="0"/>
                  </a:moveTo>
                  <a:lnTo>
                    <a:pt x="58391" y="0"/>
                  </a:lnTo>
                  <a:cubicBezTo>
                    <a:pt x="42905" y="0"/>
                    <a:pt x="28053" y="6152"/>
                    <a:pt x="17102" y="17102"/>
                  </a:cubicBezTo>
                  <a:cubicBezTo>
                    <a:pt x="6152" y="28053"/>
                    <a:pt x="0" y="42905"/>
                    <a:pt x="0" y="58391"/>
                  </a:cubicBezTo>
                  <a:lnTo>
                    <a:pt x="0" y="378976"/>
                  </a:lnTo>
                  <a:cubicBezTo>
                    <a:pt x="0" y="411224"/>
                    <a:pt x="26143" y="437367"/>
                    <a:pt x="58391" y="437367"/>
                  </a:cubicBezTo>
                  <a:lnTo>
                    <a:pt x="551209" y="437367"/>
                  </a:lnTo>
                  <a:cubicBezTo>
                    <a:pt x="588445" y="437367"/>
                    <a:pt x="624000" y="421869"/>
                    <a:pt x="649347" y="394591"/>
                  </a:cubicBezTo>
                  <a:lnTo>
                    <a:pt x="773053" y="261459"/>
                  </a:lnTo>
                  <a:cubicBezTo>
                    <a:pt x="795461" y="237344"/>
                    <a:pt x="795461" y="200023"/>
                    <a:pt x="773053" y="175908"/>
                  </a:cubicBezTo>
                  <a:lnTo>
                    <a:pt x="649347" y="42776"/>
                  </a:lnTo>
                  <a:cubicBezTo>
                    <a:pt x="624000" y="15498"/>
                    <a:pt x="588445" y="0"/>
                    <a:pt x="551209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98500" cy="47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10401" y="-2389055"/>
            <a:ext cx="8582605" cy="6166519"/>
            <a:chOff x="0" y="0"/>
            <a:chExt cx="569191" cy="4089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091" y="0"/>
              <a:ext cx="539008" cy="408958"/>
            </a:xfrm>
            <a:custGeom>
              <a:avLst/>
              <a:gdLst/>
              <a:ahLst/>
              <a:cxnLst/>
              <a:rect r="r" b="b" t="t" l="l"/>
              <a:pathLst>
                <a:path h="408958" w="539008">
                  <a:moveTo>
                    <a:pt x="227799" y="0"/>
                  </a:moveTo>
                  <a:lnTo>
                    <a:pt x="514410" y="0"/>
                  </a:lnTo>
                  <a:cubicBezTo>
                    <a:pt x="522924" y="0"/>
                    <a:pt x="530833" y="4403"/>
                    <a:pt x="535319" y="11640"/>
                  </a:cubicBezTo>
                  <a:cubicBezTo>
                    <a:pt x="539804" y="18877"/>
                    <a:pt x="540228" y="27919"/>
                    <a:pt x="536439" y="35544"/>
                  </a:cubicBezTo>
                  <a:lnTo>
                    <a:pt x="368561" y="373414"/>
                  </a:lnTo>
                  <a:cubicBezTo>
                    <a:pt x="357742" y="395189"/>
                    <a:pt x="335525" y="408958"/>
                    <a:pt x="311210" y="408958"/>
                  </a:cubicBezTo>
                  <a:lnTo>
                    <a:pt x="24599" y="408958"/>
                  </a:lnTo>
                  <a:cubicBezTo>
                    <a:pt x="16085" y="408958"/>
                    <a:pt x="8176" y="404555"/>
                    <a:pt x="3691" y="397318"/>
                  </a:cubicBezTo>
                  <a:cubicBezTo>
                    <a:pt x="-795" y="390081"/>
                    <a:pt x="-1219" y="381039"/>
                    <a:pt x="2570" y="373414"/>
                  </a:cubicBezTo>
                  <a:lnTo>
                    <a:pt x="170448" y="35544"/>
                  </a:lnTo>
                  <a:cubicBezTo>
                    <a:pt x="181267" y="13770"/>
                    <a:pt x="203485" y="0"/>
                    <a:pt x="227799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365991" cy="44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3435271" y="8343901"/>
            <a:ext cx="12579271" cy="3054740"/>
            <a:chOff x="0" y="0"/>
            <a:chExt cx="1758169" cy="426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390" y="0"/>
              <a:ext cx="1741388" cy="426952"/>
            </a:xfrm>
            <a:custGeom>
              <a:avLst/>
              <a:gdLst/>
              <a:ahLst/>
              <a:cxnLst/>
              <a:rect r="r" b="b" t="t" l="l"/>
              <a:pathLst>
                <a:path h="426952" w="1741388">
                  <a:moveTo>
                    <a:pt x="1523807" y="0"/>
                  </a:moveTo>
                  <a:lnTo>
                    <a:pt x="14382" y="0"/>
                  </a:lnTo>
                  <a:cubicBezTo>
                    <a:pt x="9447" y="0"/>
                    <a:pt x="4857" y="2530"/>
                    <a:pt x="2222" y="6702"/>
                  </a:cubicBezTo>
                  <a:cubicBezTo>
                    <a:pt x="-413" y="10874"/>
                    <a:pt x="-725" y="16106"/>
                    <a:pt x="1396" y="20562"/>
                  </a:cubicBezTo>
                  <a:lnTo>
                    <a:pt x="185024" y="406391"/>
                  </a:lnTo>
                  <a:cubicBezTo>
                    <a:pt x="191002" y="418951"/>
                    <a:pt x="203671" y="426952"/>
                    <a:pt x="217582" y="426952"/>
                  </a:cubicBezTo>
                  <a:lnTo>
                    <a:pt x="1727007" y="426952"/>
                  </a:lnTo>
                  <a:cubicBezTo>
                    <a:pt x="1731942" y="426952"/>
                    <a:pt x="1736532" y="424422"/>
                    <a:pt x="1739167" y="420250"/>
                  </a:cubicBezTo>
                  <a:cubicBezTo>
                    <a:pt x="1741802" y="416078"/>
                    <a:pt x="1742113" y="410846"/>
                    <a:pt x="1739993" y="406391"/>
                  </a:cubicBezTo>
                  <a:lnTo>
                    <a:pt x="1556365" y="20562"/>
                  </a:lnTo>
                  <a:cubicBezTo>
                    <a:pt x="1550387" y="8001"/>
                    <a:pt x="1537717" y="0"/>
                    <a:pt x="1523807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1554969" cy="465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84836" y="9258300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853503" y="2133270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2610" y="400786"/>
            <a:ext cx="1370307" cy="388669"/>
          </a:xfrm>
          <a:custGeom>
            <a:avLst/>
            <a:gdLst/>
            <a:ahLst/>
            <a:cxnLst/>
            <a:rect r="r" b="b" t="t" l="l"/>
            <a:pathLst>
              <a:path h="388669" w="1370307">
                <a:moveTo>
                  <a:pt x="0" y="0"/>
                </a:moveTo>
                <a:lnTo>
                  <a:pt x="1370307" y="0"/>
                </a:lnTo>
                <a:lnTo>
                  <a:pt x="1370307" y="388669"/>
                </a:lnTo>
                <a:lnTo>
                  <a:pt x="0" y="388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78052" y="8796338"/>
            <a:ext cx="923924" cy="923924"/>
          </a:xfrm>
          <a:custGeom>
            <a:avLst/>
            <a:gdLst/>
            <a:ahLst/>
            <a:cxnLst/>
            <a:rect r="r" b="b" t="t" l="l"/>
            <a:pathLst>
              <a:path h="923924" w="923924">
                <a:moveTo>
                  <a:pt x="0" y="0"/>
                </a:moveTo>
                <a:lnTo>
                  <a:pt x="923924" y="0"/>
                </a:lnTo>
                <a:lnTo>
                  <a:pt x="923924" y="923924"/>
                </a:lnTo>
                <a:lnTo>
                  <a:pt x="0" y="9239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78052" y="2878493"/>
            <a:ext cx="10229556" cy="186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3"/>
              </a:lnSpc>
            </a:pPr>
            <a:r>
              <a:rPr lang="en-US" b="true" sz="7143" u="sng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13" tooltip="https://github.com/Abdalla820/AAPL-SEC-Financial-Facts-and-Filing"/>
              </a:rPr>
              <a:t>AAPL-SEC-F</a:t>
            </a:r>
            <a:r>
              <a:rPr lang="en-US" b="true" sz="7143" u="sng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14" tooltip="https://github.com/Abdalla820/AAPL-SEC-Financial-Facts-and-Filing"/>
              </a:rPr>
              <a:t>INANCIAL-FACTS-AND-FILING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8052" y="5610228"/>
            <a:ext cx="636063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B3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langs : EDA With Python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54364" y="8972550"/>
            <a:ext cx="3921612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15" tooltip="https://abdalla-portfolio-pi.vercel.app"/>
              </a:rPr>
              <a:t>VisitMy Portfolio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99369" y="-3059124"/>
            <a:ext cx="3292227" cy="4010186"/>
            <a:chOff x="0" y="0"/>
            <a:chExt cx="867089" cy="10561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7089" cy="1056181"/>
            </a:xfrm>
            <a:custGeom>
              <a:avLst/>
              <a:gdLst/>
              <a:ahLst/>
              <a:cxnLst/>
              <a:rect r="r" b="b" t="t" l="l"/>
              <a:pathLst>
                <a:path h="1056181" w="867089">
                  <a:moveTo>
                    <a:pt x="89360" y="0"/>
                  </a:moveTo>
                  <a:lnTo>
                    <a:pt x="777729" y="0"/>
                  </a:lnTo>
                  <a:cubicBezTo>
                    <a:pt x="827081" y="0"/>
                    <a:pt x="867089" y="40008"/>
                    <a:pt x="867089" y="89360"/>
                  </a:cubicBezTo>
                  <a:lnTo>
                    <a:pt x="867089" y="966821"/>
                  </a:lnTo>
                  <a:cubicBezTo>
                    <a:pt x="867089" y="1016173"/>
                    <a:pt x="827081" y="1056181"/>
                    <a:pt x="777729" y="1056181"/>
                  </a:cubicBezTo>
                  <a:lnTo>
                    <a:pt x="89360" y="1056181"/>
                  </a:lnTo>
                  <a:cubicBezTo>
                    <a:pt x="40008" y="1056181"/>
                    <a:pt x="0" y="1016173"/>
                    <a:pt x="0" y="966821"/>
                  </a:cubicBezTo>
                  <a:lnTo>
                    <a:pt x="0" y="89360"/>
                  </a:lnTo>
                  <a:cubicBezTo>
                    <a:pt x="0" y="40008"/>
                    <a:pt x="40008" y="0"/>
                    <a:pt x="89360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67089" cy="1094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88056" y="-3489651"/>
            <a:ext cx="2139002" cy="7714617"/>
            <a:chOff x="0" y="0"/>
            <a:chExt cx="563358" cy="2031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3358" cy="2031833"/>
            </a:xfrm>
            <a:custGeom>
              <a:avLst/>
              <a:gdLst/>
              <a:ahLst/>
              <a:cxnLst/>
              <a:rect r="r" b="b" t="t" l="l"/>
              <a:pathLst>
                <a:path h="2031833" w="563358">
                  <a:moveTo>
                    <a:pt x="137538" y="0"/>
                  </a:moveTo>
                  <a:lnTo>
                    <a:pt x="425821" y="0"/>
                  </a:lnTo>
                  <a:cubicBezTo>
                    <a:pt x="462298" y="0"/>
                    <a:pt x="497281" y="14491"/>
                    <a:pt x="523075" y="40284"/>
                  </a:cubicBezTo>
                  <a:cubicBezTo>
                    <a:pt x="548868" y="66077"/>
                    <a:pt x="563358" y="101060"/>
                    <a:pt x="563358" y="137538"/>
                  </a:cubicBezTo>
                  <a:lnTo>
                    <a:pt x="563358" y="1894296"/>
                  </a:lnTo>
                  <a:cubicBezTo>
                    <a:pt x="563358" y="1970256"/>
                    <a:pt x="501781" y="2031833"/>
                    <a:pt x="425821" y="2031833"/>
                  </a:cubicBezTo>
                  <a:lnTo>
                    <a:pt x="137538" y="2031833"/>
                  </a:lnTo>
                  <a:cubicBezTo>
                    <a:pt x="61578" y="2031833"/>
                    <a:pt x="0" y="1970256"/>
                    <a:pt x="0" y="1894296"/>
                  </a:cubicBezTo>
                  <a:lnTo>
                    <a:pt x="0" y="137538"/>
                  </a:lnTo>
                  <a:cubicBezTo>
                    <a:pt x="0" y="61578"/>
                    <a:pt x="61578" y="0"/>
                    <a:pt x="137538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3358" cy="2069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92274" y="694205"/>
            <a:ext cx="4706419" cy="4706419"/>
          </a:xfrm>
          <a:custGeom>
            <a:avLst/>
            <a:gdLst/>
            <a:ahLst/>
            <a:cxnLst/>
            <a:rect r="r" b="b" t="t" l="l"/>
            <a:pathLst>
              <a:path h="4706419" w="4706419">
                <a:moveTo>
                  <a:pt x="0" y="0"/>
                </a:moveTo>
                <a:lnTo>
                  <a:pt x="4706419" y="0"/>
                </a:lnTo>
                <a:lnTo>
                  <a:pt x="4706419" y="4706418"/>
                </a:lnTo>
                <a:lnTo>
                  <a:pt x="0" y="4706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846369" y="5143500"/>
            <a:ext cx="5313087" cy="5346532"/>
            <a:chOff x="0" y="0"/>
            <a:chExt cx="406400" cy="4089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4378" y="0"/>
              <a:ext cx="357643" cy="408958"/>
            </a:xfrm>
            <a:custGeom>
              <a:avLst/>
              <a:gdLst/>
              <a:ahLst/>
              <a:cxnLst/>
              <a:rect r="r" b="b" t="t" l="l"/>
              <a:pathLst>
                <a:path h="408958" w="357643">
                  <a:moveTo>
                    <a:pt x="242936" y="0"/>
                  </a:moveTo>
                  <a:lnTo>
                    <a:pt x="317908" y="0"/>
                  </a:lnTo>
                  <a:cubicBezTo>
                    <a:pt x="331662" y="0"/>
                    <a:pt x="344437" y="7113"/>
                    <a:pt x="351683" y="18803"/>
                  </a:cubicBezTo>
                  <a:cubicBezTo>
                    <a:pt x="358928" y="30494"/>
                    <a:pt x="359613" y="45100"/>
                    <a:pt x="353493" y="57417"/>
                  </a:cubicBezTo>
                  <a:lnTo>
                    <a:pt x="207351" y="351541"/>
                  </a:lnTo>
                  <a:cubicBezTo>
                    <a:pt x="189874" y="386715"/>
                    <a:pt x="153985" y="408958"/>
                    <a:pt x="114708" y="408958"/>
                  </a:cubicBezTo>
                  <a:lnTo>
                    <a:pt x="39736" y="408958"/>
                  </a:lnTo>
                  <a:cubicBezTo>
                    <a:pt x="25982" y="408958"/>
                    <a:pt x="13207" y="401846"/>
                    <a:pt x="5961" y="390155"/>
                  </a:cubicBezTo>
                  <a:cubicBezTo>
                    <a:pt x="-1284" y="378464"/>
                    <a:pt x="-1969" y="363858"/>
                    <a:pt x="4151" y="351541"/>
                  </a:cubicBezTo>
                  <a:lnTo>
                    <a:pt x="150293" y="57417"/>
                  </a:lnTo>
                  <a:cubicBezTo>
                    <a:pt x="167770" y="22243"/>
                    <a:pt x="203659" y="0"/>
                    <a:pt x="242936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03200" cy="44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924886" y="4397962"/>
            <a:ext cx="2166390" cy="2166390"/>
          </a:xfrm>
          <a:custGeom>
            <a:avLst/>
            <a:gdLst/>
            <a:ahLst/>
            <a:cxnLst/>
            <a:rect r="r" b="b" t="t" l="l"/>
            <a:pathLst>
              <a:path h="2166390" w="2166390">
                <a:moveTo>
                  <a:pt x="0" y="0"/>
                </a:moveTo>
                <a:lnTo>
                  <a:pt x="2166390" y="0"/>
                </a:lnTo>
                <a:lnTo>
                  <a:pt x="2166390" y="2166390"/>
                </a:lnTo>
                <a:lnTo>
                  <a:pt x="0" y="2166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651129" y="1179662"/>
            <a:ext cx="5251108" cy="5246370"/>
            <a:chOff x="0" y="0"/>
            <a:chExt cx="1396176" cy="13949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6176" cy="1394916"/>
            </a:xfrm>
            <a:custGeom>
              <a:avLst/>
              <a:gdLst/>
              <a:ahLst/>
              <a:cxnLst/>
              <a:rect r="r" b="b" t="t" l="l"/>
              <a:pathLst>
                <a:path h="1394916" w="1396176">
                  <a:moveTo>
                    <a:pt x="961432" y="733104"/>
                  </a:moveTo>
                  <a:lnTo>
                    <a:pt x="961432" y="160633"/>
                  </a:lnTo>
                  <a:cubicBezTo>
                    <a:pt x="961432" y="71918"/>
                    <a:pt x="889514" y="0"/>
                    <a:pt x="800799" y="0"/>
                  </a:cubicBezTo>
                  <a:lnTo>
                    <a:pt x="160633" y="0"/>
                  </a:lnTo>
                  <a:cubicBezTo>
                    <a:pt x="71918" y="1"/>
                    <a:pt x="1" y="71918"/>
                    <a:pt x="0" y="160633"/>
                  </a:cubicBezTo>
                  <a:lnTo>
                    <a:pt x="0" y="800797"/>
                  </a:lnTo>
                  <a:cubicBezTo>
                    <a:pt x="1" y="889512"/>
                    <a:pt x="71918" y="961430"/>
                    <a:pt x="160633" y="961431"/>
                  </a:cubicBezTo>
                  <a:lnTo>
                    <a:pt x="734364" y="961431"/>
                  </a:lnTo>
                  <a:cubicBezTo>
                    <a:pt x="823079" y="961431"/>
                    <a:pt x="894997" y="1033349"/>
                    <a:pt x="894997" y="1122064"/>
                  </a:cubicBezTo>
                  <a:lnTo>
                    <a:pt x="894997" y="1234283"/>
                  </a:lnTo>
                  <a:cubicBezTo>
                    <a:pt x="894997" y="1322995"/>
                    <a:pt x="966911" y="1394912"/>
                    <a:pt x="1055624" y="1394916"/>
                  </a:cubicBezTo>
                  <a:lnTo>
                    <a:pt x="1235542" y="1394916"/>
                  </a:lnTo>
                  <a:cubicBezTo>
                    <a:pt x="1324257" y="1394915"/>
                    <a:pt x="1396175" y="1322998"/>
                    <a:pt x="1396176" y="1234283"/>
                  </a:cubicBezTo>
                  <a:lnTo>
                    <a:pt x="1396176" y="1054371"/>
                  </a:lnTo>
                  <a:cubicBezTo>
                    <a:pt x="1396176" y="965655"/>
                    <a:pt x="1324258" y="893737"/>
                    <a:pt x="1235542" y="893737"/>
                  </a:cubicBezTo>
                  <a:lnTo>
                    <a:pt x="1122065" y="893737"/>
                  </a:lnTo>
                  <a:cubicBezTo>
                    <a:pt x="1033350" y="893737"/>
                    <a:pt x="961432" y="821819"/>
                    <a:pt x="961432" y="733104"/>
                  </a:cubicBezTo>
                  <a:close/>
                </a:path>
              </a:pathLst>
            </a:custGeom>
            <a:blipFill>
              <a:blip r:embed="rId6"/>
              <a:stretch>
                <a:fillRect l="-24979" t="0" r="-24979" b="0"/>
              </a:stretch>
            </a:blipFill>
            <a:ln w="38100" cap="sq">
              <a:solidFill>
                <a:srgbClr val="0B3D4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809225" y="5143500"/>
            <a:ext cx="3928004" cy="1282532"/>
            <a:chOff x="0" y="0"/>
            <a:chExt cx="808231" cy="2638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8231" cy="263895"/>
            </a:xfrm>
            <a:custGeom>
              <a:avLst/>
              <a:gdLst/>
              <a:ahLst/>
              <a:cxnLst/>
              <a:rect r="r" b="b" t="t" l="l"/>
              <a:pathLst>
                <a:path h="263895" w="808231">
                  <a:moveTo>
                    <a:pt x="38495" y="0"/>
                  </a:moveTo>
                  <a:lnTo>
                    <a:pt x="769736" y="0"/>
                  </a:lnTo>
                  <a:cubicBezTo>
                    <a:pt x="779946" y="0"/>
                    <a:pt x="789737" y="4056"/>
                    <a:pt x="796956" y="11275"/>
                  </a:cubicBezTo>
                  <a:cubicBezTo>
                    <a:pt x="804176" y="18494"/>
                    <a:pt x="808231" y="28286"/>
                    <a:pt x="808231" y="38495"/>
                  </a:cubicBezTo>
                  <a:lnTo>
                    <a:pt x="808231" y="225400"/>
                  </a:lnTo>
                  <a:cubicBezTo>
                    <a:pt x="808231" y="235610"/>
                    <a:pt x="804176" y="245401"/>
                    <a:pt x="796956" y="252621"/>
                  </a:cubicBezTo>
                  <a:cubicBezTo>
                    <a:pt x="789737" y="259840"/>
                    <a:pt x="779946" y="263895"/>
                    <a:pt x="769736" y="263895"/>
                  </a:cubicBezTo>
                  <a:lnTo>
                    <a:pt x="38495" y="263895"/>
                  </a:lnTo>
                  <a:cubicBezTo>
                    <a:pt x="17235" y="263895"/>
                    <a:pt x="0" y="246661"/>
                    <a:pt x="0" y="225400"/>
                  </a:cubicBezTo>
                  <a:lnTo>
                    <a:pt x="0" y="38495"/>
                  </a:lnTo>
                  <a:cubicBezTo>
                    <a:pt x="0" y="17235"/>
                    <a:pt x="17235" y="0"/>
                    <a:pt x="3849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08231" cy="301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98844" y="6405774"/>
            <a:ext cx="10217153" cy="7340925"/>
            <a:chOff x="0" y="0"/>
            <a:chExt cx="569191" cy="408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677" y="0"/>
              <a:ext cx="543837" cy="408958"/>
            </a:xfrm>
            <a:custGeom>
              <a:avLst/>
              <a:gdLst/>
              <a:ahLst/>
              <a:cxnLst/>
              <a:rect r="r" b="b" t="t" l="l"/>
              <a:pathLst>
                <a:path h="408958" w="543837">
                  <a:moveTo>
                    <a:pt x="223863" y="0"/>
                  </a:moveTo>
                  <a:lnTo>
                    <a:pt x="523174" y="0"/>
                  </a:lnTo>
                  <a:cubicBezTo>
                    <a:pt x="530326" y="0"/>
                    <a:pt x="536969" y="3699"/>
                    <a:pt x="540737" y="9778"/>
                  </a:cubicBezTo>
                  <a:cubicBezTo>
                    <a:pt x="544505" y="15857"/>
                    <a:pt x="544861" y="23453"/>
                    <a:pt x="541679" y="29858"/>
                  </a:cubicBezTo>
                  <a:lnTo>
                    <a:pt x="368150" y="379100"/>
                  </a:lnTo>
                  <a:cubicBezTo>
                    <a:pt x="359061" y="397392"/>
                    <a:pt x="340398" y="408958"/>
                    <a:pt x="319974" y="408958"/>
                  </a:cubicBezTo>
                  <a:lnTo>
                    <a:pt x="20663" y="408958"/>
                  </a:lnTo>
                  <a:cubicBezTo>
                    <a:pt x="13511" y="408958"/>
                    <a:pt x="6868" y="405260"/>
                    <a:pt x="3100" y="399180"/>
                  </a:cubicBezTo>
                  <a:cubicBezTo>
                    <a:pt x="-668" y="393101"/>
                    <a:pt x="-1024" y="385506"/>
                    <a:pt x="2159" y="379100"/>
                  </a:cubicBezTo>
                  <a:lnTo>
                    <a:pt x="175687" y="29858"/>
                  </a:lnTo>
                  <a:cubicBezTo>
                    <a:pt x="184776" y="11567"/>
                    <a:pt x="203439" y="0"/>
                    <a:pt x="2238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365991" cy="44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82357" y="6654632"/>
            <a:ext cx="10217153" cy="7340925"/>
            <a:chOff x="0" y="0"/>
            <a:chExt cx="569191" cy="4089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677" y="0"/>
              <a:ext cx="543837" cy="408958"/>
            </a:xfrm>
            <a:custGeom>
              <a:avLst/>
              <a:gdLst/>
              <a:ahLst/>
              <a:cxnLst/>
              <a:rect r="r" b="b" t="t" l="l"/>
              <a:pathLst>
                <a:path h="408958" w="543837">
                  <a:moveTo>
                    <a:pt x="223863" y="0"/>
                  </a:moveTo>
                  <a:lnTo>
                    <a:pt x="523174" y="0"/>
                  </a:lnTo>
                  <a:cubicBezTo>
                    <a:pt x="530326" y="0"/>
                    <a:pt x="536969" y="3699"/>
                    <a:pt x="540737" y="9778"/>
                  </a:cubicBezTo>
                  <a:cubicBezTo>
                    <a:pt x="544505" y="15857"/>
                    <a:pt x="544861" y="23453"/>
                    <a:pt x="541679" y="29858"/>
                  </a:cubicBezTo>
                  <a:lnTo>
                    <a:pt x="368150" y="379100"/>
                  </a:lnTo>
                  <a:cubicBezTo>
                    <a:pt x="359061" y="397392"/>
                    <a:pt x="340398" y="408958"/>
                    <a:pt x="319974" y="408958"/>
                  </a:cubicBezTo>
                  <a:lnTo>
                    <a:pt x="20663" y="408958"/>
                  </a:lnTo>
                  <a:cubicBezTo>
                    <a:pt x="13511" y="408958"/>
                    <a:pt x="6868" y="405260"/>
                    <a:pt x="3100" y="399180"/>
                  </a:cubicBezTo>
                  <a:cubicBezTo>
                    <a:pt x="-668" y="393101"/>
                    <a:pt x="-1024" y="385506"/>
                    <a:pt x="2159" y="379100"/>
                  </a:cubicBezTo>
                  <a:lnTo>
                    <a:pt x="175687" y="29858"/>
                  </a:lnTo>
                  <a:cubicBezTo>
                    <a:pt x="184776" y="11567"/>
                    <a:pt x="203439" y="0"/>
                    <a:pt x="223863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365991" cy="44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7552" y="3248074"/>
            <a:ext cx="9075097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"Raw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financial data is messy. It contains missing values, illogical entries, duplicate reports, and extreme outliers."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pipeline solves that problem. It automatically detects whether your data is Stock Prices or Company Financials, then applies the right cleaning strategy for each.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9282610" y="400786"/>
            <a:ext cx="1034490" cy="293419"/>
          </a:xfrm>
          <a:custGeom>
            <a:avLst/>
            <a:gdLst/>
            <a:ahLst/>
            <a:cxnLst/>
            <a:rect r="r" b="b" t="t" l="l"/>
            <a:pathLst>
              <a:path h="293419" w="1034490">
                <a:moveTo>
                  <a:pt x="1034489" y="0"/>
                </a:moveTo>
                <a:lnTo>
                  <a:pt x="0" y="0"/>
                </a:lnTo>
                <a:lnTo>
                  <a:pt x="0" y="293419"/>
                </a:lnTo>
                <a:lnTo>
                  <a:pt x="1034489" y="293419"/>
                </a:lnTo>
                <a:lnTo>
                  <a:pt x="103448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708256" y="6759645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6" y="0"/>
                </a:lnTo>
                <a:lnTo>
                  <a:pt x="5131556" y="5123672"/>
                </a:lnTo>
                <a:lnTo>
                  <a:pt x="0" y="51236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796" y="0"/>
              <a:ext cx="504145" cy="184722"/>
            </a:xfrm>
            <a:custGeom>
              <a:avLst/>
              <a:gdLst/>
              <a:ahLst/>
              <a:cxnLst/>
              <a:rect r="r" b="b" t="t" l="l"/>
              <a:pathLst>
                <a:path h="184722" w="504145">
                  <a:moveTo>
                    <a:pt x="294770" y="0"/>
                  </a:moveTo>
                  <a:lnTo>
                    <a:pt x="6174" y="0"/>
                  </a:lnTo>
                  <a:cubicBezTo>
                    <a:pt x="3623" y="0"/>
                    <a:pt x="1335" y="1569"/>
                    <a:pt x="415" y="3948"/>
                  </a:cubicBezTo>
                  <a:cubicBezTo>
                    <a:pt x="-505" y="6327"/>
                    <a:pt x="133" y="9026"/>
                    <a:pt x="2021" y="10742"/>
                  </a:cubicBezTo>
                  <a:lnTo>
                    <a:pt x="181587" y="173980"/>
                  </a:lnTo>
                  <a:cubicBezTo>
                    <a:pt x="189191" y="180892"/>
                    <a:pt x="199098" y="184722"/>
                    <a:pt x="209374" y="184722"/>
                  </a:cubicBezTo>
                  <a:lnTo>
                    <a:pt x="497970" y="184722"/>
                  </a:lnTo>
                  <a:cubicBezTo>
                    <a:pt x="500521" y="184722"/>
                    <a:pt x="502809" y="183154"/>
                    <a:pt x="503729" y="180774"/>
                  </a:cubicBezTo>
                  <a:cubicBezTo>
                    <a:pt x="504648" y="178395"/>
                    <a:pt x="504010" y="175696"/>
                    <a:pt x="502123" y="173980"/>
                  </a:cubicBezTo>
                  <a:lnTo>
                    <a:pt x="322556" y="10742"/>
                  </a:lnTo>
                  <a:cubicBezTo>
                    <a:pt x="314953" y="3830"/>
                    <a:pt x="305046" y="0"/>
                    <a:pt x="294770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Ingoude Company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78052" y="1831389"/>
            <a:ext cx="6792372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4912298" y="-3020727"/>
            <a:ext cx="7638618" cy="7089238"/>
            <a:chOff x="0" y="0"/>
            <a:chExt cx="543846" cy="5047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2412" cy="504732"/>
            </a:xfrm>
            <a:custGeom>
              <a:avLst/>
              <a:gdLst/>
              <a:ahLst/>
              <a:cxnLst/>
              <a:rect r="r" b="b" t="t" l="l"/>
              <a:pathLst>
                <a:path h="504732" w="532412">
                  <a:moveTo>
                    <a:pt x="308213" y="0"/>
                  </a:moveTo>
                  <a:lnTo>
                    <a:pt x="32433" y="0"/>
                  </a:lnTo>
                  <a:cubicBezTo>
                    <a:pt x="14521" y="0"/>
                    <a:pt x="0" y="14521"/>
                    <a:pt x="0" y="32433"/>
                  </a:cubicBezTo>
                  <a:lnTo>
                    <a:pt x="0" y="472299"/>
                  </a:lnTo>
                  <a:cubicBezTo>
                    <a:pt x="0" y="480901"/>
                    <a:pt x="3417" y="489150"/>
                    <a:pt x="9499" y="495233"/>
                  </a:cubicBezTo>
                  <a:cubicBezTo>
                    <a:pt x="15582" y="501315"/>
                    <a:pt x="23831" y="504732"/>
                    <a:pt x="32433" y="504732"/>
                  </a:cubicBezTo>
                  <a:lnTo>
                    <a:pt x="308213" y="504732"/>
                  </a:lnTo>
                  <a:cubicBezTo>
                    <a:pt x="328721" y="504732"/>
                    <a:pt x="348125" y="495443"/>
                    <a:pt x="360986" y="479470"/>
                  </a:cubicBezTo>
                  <a:lnTo>
                    <a:pt x="523506" y="277628"/>
                  </a:lnTo>
                  <a:cubicBezTo>
                    <a:pt x="535380" y="262880"/>
                    <a:pt x="535380" y="241852"/>
                    <a:pt x="523506" y="227104"/>
                  </a:cubicBezTo>
                  <a:lnTo>
                    <a:pt x="360986" y="25262"/>
                  </a:lnTo>
                  <a:cubicBezTo>
                    <a:pt x="348125" y="9288"/>
                    <a:pt x="328721" y="0"/>
                    <a:pt x="308213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9546" cy="542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33875" y="523892"/>
            <a:ext cx="6232447" cy="6232447"/>
          </a:xfrm>
          <a:custGeom>
            <a:avLst/>
            <a:gdLst/>
            <a:ahLst/>
            <a:cxnLst/>
            <a:rect r="r" b="b" t="t" l="l"/>
            <a:pathLst>
              <a:path h="6232447" w="6232447">
                <a:moveTo>
                  <a:pt x="0" y="0"/>
                </a:moveTo>
                <a:lnTo>
                  <a:pt x="6232447" y="0"/>
                </a:lnTo>
                <a:lnTo>
                  <a:pt x="6232447" y="6232447"/>
                </a:lnTo>
                <a:lnTo>
                  <a:pt x="0" y="6232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86159" y="4139043"/>
            <a:ext cx="3676257" cy="3676257"/>
          </a:xfrm>
          <a:custGeom>
            <a:avLst/>
            <a:gdLst/>
            <a:ahLst/>
            <a:cxnLst/>
            <a:rect r="r" b="b" t="t" l="l"/>
            <a:pathLst>
              <a:path h="3676257" w="3676257">
                <a:moveTo>
                  <a:pt x="0" y="0"/>
                </a:moveTo>
                <a:lnTo>
                  <a:pt x="3676257" y="0"/>
                </a:lnTo>
                <a:lnTo>
                  <a:pt x="3676257" y="3676257"/>
                </a:lnTo>
                <a:lnTo>
                  <a:pt x="0" y="3676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7604377" y="8655255"/>
            <a:ext cx="7307920" cy="6137281"/>
            <a:chOff x="0" y="0"/>
            <a:chExt cx="500392" cy="420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8541" cy="420236"/>
            </a:xfrm>
            <a:custGeom>
              <a:avLst/>
              <a:gdLst/>
              <a:ahLst/>
              <a:cxnLst/>
              <a:rect r="r" b="b" t="t" l="l"/>
              <a:pathLst>
                <a:path h="420236" w="478541">
                  <a:moveTo>
                    <a:pt x="243164" y="0"/>
                  </a:moveTo>
                  <a:lnTo>
                    <a:pt x="54029" y="0"/>
                  </a:lnTo>
                  <a:cubicBezTo>
                    <a:pt x="39699" y="0"/>
                    <a:pt x="25957" y="5692"/>
                    <a:pt x="15825" y="15825"/>
                  </a:cubicBezTo>
                  <a:cubicBezTo>
                    <a:pt x="5692" y="25957"/>
                    <a:pt x="0" y="39699"/>
                    <a:pt x="0" y="54029"/>
                  </a:cubicBezTo>
                  <a:lnTo>
                    <a:pt x="0" y="366207"/>
                  </a:lnTo>
                  <a:cubicBezTo>
                    <a:pt x="0" y="396046"/>
                    <a:pt x="24190" y="420236"/>
                    <a:pt x="54029" y="420236"/>
                  </a:cubicBezTo>
                  <a:lnTo>
                    <a:pt x="243164" y="420236"/>
                  </a:lnTo>
                  <a:cubicBezTo>
                    <a:pt x="277694" y="420236"/>
                    <a:pt x="310747" y="406220"/>
                    <a:pt x="334752" y="381397"/>
                  </a:cubicBezTo>
                  <a:lnTo>
                    <a:pt x="462833" y="248956"/>
                  </a:lnTo>
                  <a:cubicBezTo>
                    <a:pt x="483777" y="227299"/>
                    <a:pt x="483777" y="192936"/>
                    <a:pt x="462833" y="171280"/>
                  </a:cubicBezTo>
                  <a:lnTo>
                    <a:pt x="334752" y="38838"/>
                  </a:lnTo>
                  <a:cubicBezTo>
                    <a:pt x="310747" y="14016"/>
                    <a:pt x="277694" y="0"/>
                    <a:pt x="243164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6092" cy="458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8890" y="3828331"/>
            <a:ext cx="4826924" cy="4826924"/>
          </a:xfrm>
          <a:custGeom>
            <a:avLst/>
            <a:gdLst/>
            <a:ahLst/>
            <a:cxnLst/>
            <a:rect r="r" b="b" t="t" l="l"/>
            <a:pathLst>
              <a:path h="4826924" w="4826924">
                <a:moveTo>
                  <a:pt x="0" y="0"/>
                </a:moveTo>
                <a:lnTo>
                  <a:pt x="4826924" y="0"/>
                </a:lnTo>
                <a:lnTo>
                  <a:pt x="4826924" y="4826924"/>
                </a:lnTo>
                <a:lnTo>
                  <a:pt x="0" y="4826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201900" y="6241793"/>
            <a:ext cx="5328844" cy="6323076"/>
            <a:chOff x="0" y="0"/>
            <a:chExt cx="1096470" cy="13010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6470" cy="1301044"/>
            </a:xfrm>
            <a:custGeom>
              <a:avLst/>
              <a:gdLst/>
              <a:ahLst/>
              <a:cxnLst/>
              <a:rect r="r" b="b" t="t" l="l"/>
              <a:pathLst>
                <a:path h="1301044" w="1096470">
                  <a:moveTo>
                    <a:pt x="47671" y="0"/>
                  </a:moveTo>
                  <a:lnTo>
                    <a:pt x="1048799" y="0"/>
                  </a:lnTo>
                  <a:cubicBezTo>
                    <a:pt x="1061442" y="0"/>
                    <a:pt x="1073567" y="5022"/>
                    <a:pt x="1082507" y="13963"/>
                  </a:cubicBezTo>
                  <a:cubicBezTo>
                    <a:pt x="1091448" y="22903"/>
                    <a:pt x="1096470" y="35028"/>
                    <a:pt x="1096470" y="47671"/>
                  </a:cubicBezTo>
                  <a:lnTo>
                    <a:pt x="1096470" y="1253373"/>
                  </a:lnTo>
                  <a:cubicBezTo>
                    <a:pt x="1096470" y="1279701"/>
                    <a:pt x="1075127" y="1301044"/>
                    <a:pt x="1048799" y="1301044"/>
                  </a:cubicBezTo>
                  <a:lnTo>
                    <a:pt x="47671" y="1301044"/>
                  </a:lnTo>
                  <a:cubicBezTo>
                    <a:pt x="21343" y="1301044"/>
                    <a:pt x="0" y="1279701"/>
                    <a:pt x="0" y="1253373"/>
                  </a:cubicBezTo>
                  <a:lnTo>
                    <a:pt x="0" y="47671"/>
                  </a:lnTo>
                  <a:cubicBezTo>
                    <a:pt x="0" y="35028"/>
                    <a:pt x="5022" y="22903"/>
                    <a:pt x="13963" y="13963"/>
                  </a:cubicBezTo>
                  <a:cubicBezTo>
                    <a:pt x="22903" y="5022"/>
                    <a:pt x="35028" y="0"/>
                    <a:pt x="47671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6470" cy="133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54604" y="8655255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0815" y="0"/>
              <a:ext cx="482105" cy="184722"/>
            </a:xfrm>
            <a:custGeom>
              <a:avLst/>
              <a:gdLst/>
              <a:ahLst/>
              <a:cxnLst/>
              <a:rect r="r" b="b" t="t" l="l"/>
              <a:pathLst>
                <a:path h="184722" w="482105">
                  <a:moveTo>
                    <a:pt x="265785" y="0"/>
                  </a:moveTo>
                  <a:lnTo>
                    <a:pt x="13120" y="0"/>
                  </a:lnTo>
                  <a:cubicBezTo>
                    <a:pt x="7700" y="0"/>
                    <a:pt x="2838" y="3333"/>
                    <a:pt x="884" y="8389"/>
                  </a:cubicBezTo>
                  <a:cubicBezTo>
                    <a:pt x="-1071" y="13444"/>
                    <a:pt x="285" y="19181"/>
                    <a:pt x="4295" y="22827"/>
                  </a:cubicBezTo>
                  <a:lnTo>
                    <a:pt x="157275" y="161895"/>
                  </a:lnTo>
                  <a:cubicBezTo>
                    <a:pt x="173432" y="176583"/>
                    <a:pt x="194484" y="184722"/>
                    <a:pt x="216320" y="184722"/>
                  </a:cubicBezTo>
                  <a:lnTo>
                    <a:pt x="468985" y="184722"/>
                  </a:lnTo>
                  <a:cubicBezTo>
                    <a:pt x="474405" y="184722"/>
                    <a:pt x="479268" y="181389"/>
                    <a:pt x="481222" y="176333"/>
                  </a:cubicBezTo>
                  <a:cubicBezTo>
                    <a:pt x="483177" y="171278"/>
                    <a:pt x="481821" y="165541"/>
                    <a:pt x="477810" y="161895"/>
                  </a:cubicBezTo>
                  <a:lnTo>
                    <a:pt x="324831" y="22827"/>
                  </a:lnTo>
                  <a:cubicBezTo>
                    <a:pt x="308674" y="8139"/>
                    <a:pt x="287621" y="0"/>
                    <a:pt x="26578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true" flipV="false" rot="0">
            <a:off x="8458847" y="400786"/>
            <a:ext cx="1034490" cy="293419"/>
          </a:xfrm>
          <a:custGeom>
            <a:avLst/>
            <a:gdLst/>
            <a:ahLst/>
            <a:cxnLst/>
            <a:rect r="r" b="b" t="t" l="l"/>
            <a:pathLst>
              <a:path h="293419" w="1034490">
                <a:moveTo>
                  <a:pt x="1034489" y="0"/>
                </a:moveTo>
                <a:lnTo>
                  <a:pt x="0" y="0"/>
                </a:lnTo>
                <a:lnTo>
                  <a:pt x="0" y="293419"/>
                </a:lnTo>
                <a:lnTo>
                  <a:pt x="1034489" y="293419"/>
                </a:lnTo>
                <a:lnTo>
                  <a:pt x="103448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4" id="34"/>
          <p:cNvGraphicFramePr/>
          <p:nvPr/>
        </p:nvGraphicFramePr>
        <p:xfrm>
          <a:off x="1307011" y="4241214"/>
          <a:ext cx="3771900" cy="3771900"/>
        </p:xfrm>
        <a:graphic>
          <a:graphicData uri="http://schemas.openxmlformats.org/presentationml/2006/ole">
            <p:oleObj imgW="4521200" imgH="4521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5" id="35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Ingoude Company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8052" y="1669464"/>
            <a:ext cx="679237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BACKGROUND</a:t>
            </a:r>
          </a:p>
        </p:txBody>
      </p:sp>
      <p:grpSp>
        <p:nvGrpSpPr>
          <p:cNvPr name="Group 37" id="37"/>
          <p:cNvGrpSpPr/>
          <p:nvPr/>
        </p:nvGrpSpPr>
        <p:grpSpPr>
          <a:xfrm rot="-10800000">
            <a:off x="11105401" y="1179662"/>
            <a:ext cx="5990368" cy="6897901"/>
            <a:chOff x="0" y="0"/>
            <a:chExt cx="1934557" cy="2227640"/>
          </a:xfrm>
        </p:grpSpPr>
        <p:sp>
          <p:nvSpPr>
            <p:cNvPr name="Freeform 38" id="38"/>
            <p:cNvSpPr/>
            <p:nvPr/>
          </p:nvSpPr>
          <p:spPr>
            <a:xfrm flipH="true" flipV="false" rot="0">
              <a:off x="0" y="0"/>
              <a:ext cx="1934558" cy="2227640"/>
            </a:xfrm>
            <a:custGeom>
              <a:avLst/>
              <a:gdLst/>
              <a:ahLst/>
              <a:cxnLst/>
              <a:rect r="r" b="b" t="t" l="l"/>
              <a:pathLst>
                <a:path h="2227640" w="1934558">
                  <a:moveTo>
                    <a:pt x="101487" y="0"/>
                  </a:moveTo>
                  <a:lnTo>
                    <a:pt x="941121" y="0"/>
                  </a:lnTo>
                  <a:cubicBezTo>
                    <a:pt x="997170" y="0"/>
                    <a:pt x="1042607" y="45437"/>
                    <a:pt x="1042607" y="101486"/>
                  </a:cubicBezTo>
                  <a:lnTo>
                    <a:pt x="1042607" y="494266"/>
                  </a:lnTo>
                  <a:cubicBezTo>
                    <a:pt x="1042606" y="521182"/>
                    <a:pt x="1053298" y="546996"/>
                    <a:pt x="1072331" y="566028"/>
                  </a:cubicBezTo>
                  <a:cubicBezTo>
                    <a:pt x="1091363" y="585061"/>
                    <a:pt x="1117177" y="595753"/>
                    <a:pt x="1144092" y="595753"/>
                  </a:cubicBezTo>
                  <a:lnTo>
                    <a:pt x="1833073" y="595753"/>
                  </a:lnTo>
                  <a:cubicBezTo>
                    <a:pt x="1859988" y="595753"/>
                    <a:pt x="1885802" y="606445"/>
                    <a:pt x="1904834" y="625478"/>
                  </a:cubicBezTo>
                  <a:cubicBezTo>
                    <a:pt x="1923866" y="644510"/>
                    <a:pt x="1934558" y="670323"/>
                    <a:pt x="1934558" y="697239"/>
                  </a:cubicBezTo>
                  <a:lnTo>
                    <a:pt x="1934558" y="2126154"/>
                  </a:lnTo>
                  <a:cubicBezTo>
                    <a:pt x="1934558" y="2182203"/>
                    <a:pt x="1889122" y="2227640"/>
                    <a:pt x="1833073" y="2227640"/>
                  </a:cubicBezTo>
                  <a:lnTo>
                    <a:pt x="612561" y="2227640"/>
                  </a:lnTo>
                  <a:cubicBezTo>
                    <a:pt x="556512" y="2227640"/>
                    <a:pt x="511075" y="2182203"/>
                    <a:pt x="511075" y="2126154"/>
                  </a:cubicBezTo>
                  <a:lnTo>
                    <a:pt x="511075" y="986605"/>
                  </a:lnTo>
                  <a:cubicBezTo>
                    <a:pt x="511075" y="959689"/>
                    <a:pt x="500382" y="933875"/>
                    <a:pt x="481350" y="914843"/>
                  </a:cubicBezTo>
                  <a:cubicBezTo>
                    <a:pt x="462317" y="895811"/>
                    <a:pt x="436504" y="885119"/>
                    <a:pt x="409588" y="885119"/>
                  </a:cubicBezTo>
                  <a:lnTo>
                    <a:pt x="101486" y="885119"/>
                  </a:lnTo>
                  <a:cubicBezTo>
                    <a:pt x="74570" y="885119"/>
                    <a:pt x="48756" y="874426"/>
                    <a:pt x="29724" y="855394"/>
                  </a:cubicBezTo>
                  <a:cubicBezTo>
                    <a:pt x="10692" y="836361"/>
                    <a:pt x="0" y="810548"/>
                    <a:pt x="0" y="783632"/>
                  </a:cubicBezTo>
                  <a:lnTo>
                    <a:pt x="0" y="101486"/>
                  </a:lnTo>
                  <a:cubicBezTo>
                    <a:pt x="0" y="74570"/>
                    <a:pt x="10693" y="48756"/>
                    <a:pt x="29725" y="29724"/>
                  </a:cubicBezTo>
                  <a:cubicBezTo>
                    <a:pt x="48758" y="10692"/>
                    <a:pt x="74571" y="0"/>
                    <a:pt x="101487" y="0"/>
                  </a:cubicBezTo>
                  <a:close/>
                </a:path>
              </a:pathLst>
            </a:custGeom>
            <a:blipFill>
              <a:blip r:embed="rId12"/>
              <a:stretch>
                <a:fillRect l="-36905" t="0" r="-36905" b="0"/>
              </a:stretch>
            </a:blipFill>
            <a:ln w="38100" cap="sq">
              <a:solidFill>
                <a:srgbClr val="083839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44577" y="4878338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3932" y="9060866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27805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44452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454950">
            <a:off x="16421334" y="5407619"/>
            <a:ext cx="7346802" cy="2036826"/>
            <a:chOff x="0" y="0"/>
            <a:chExt cx="1511688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1688" cy="419100"/>
            </a:xfrm>
            <a:custGeom>
              <a:avLst/>
              <a:gdLst/>
              <a:ahLst/>
              <a:cxnLst/>
              <a:rect r="r" b="b" t="t" l="l"/>
              <a:pathLst>
                <a:path h="419100" w="1511688">
                  <a:moveTo>
                    <a:pt x="20582" y="0"/>
                  </a:moveTo>
                  <a:lnTo>
                    <a:pt x="1491106" y="0"/>
                  </a:lnTo>
                  <a:cubicBezTo>
                    <a:pt x="1502473" y="0"/>
                    <a:pt x="1511688" y="9215"/>
                    <a:pt x="1511688" y="20582"/>
                  </a:cubicBezTo>
                  <a:lnTo>
                    <a:pt x="1511688" y="398518"/>
                  </a:lnTo>
                  <a:cubicBezTo>
                    <a:pt x="1511688" y="409885"/>
                    <a:pt x="1502473" y="419100"/>
                    <a:pt x="1491106" y="419100"/>
                  </a:cubicBezTo>
                  <a:lnTo>
                    <a:pt x="20582" y="419100"/>
                  </a:lnTo>
                  <a:cubicBezTo>
                    <a:pt x="9215" y="419100"/>
                    <a:pt x="0" y="409885"/>
                    <a:pt x="0" y="398518"/>
                  </a:cubicBezTo>
                  <a:lnTo>
                    <a:pt x="0" y="20582"/>
                  </a:lnTo>
                  <a:cubicBezTo>
                    <a:pt x="0" y="9215"/>
                    <a:pt x="9215" y="0"/>
                    <a:pt x="20582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1168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21267" y="-128587"/>
            <a:ext cx="4809252" cy="2537685"/>
            <a:chOff x="0" y="0"/>
            <a:chExt cx="1155273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036" y="0"/>
              <a:ext cx="1129201" cy="609600"/>
            </a:xfrm>
            <a:custGeom>
              <a:avLst/>
              <a:gdLst/>
              <a:ahLst/>
              <a:cxnLst/>
              <a:rect r="r" b="b" t="t" l="l"/>
              <a:pathLst>
                <a:path h="609600" w="1129201">
                  <a:moveTo>
                    <a:pt x="892353" y="0"/>
                  </a:moveTo>
                  <a:lnTo>
                    <a:pt x="33648" y="0"/>
                  </a:lnTo>
                  <a:cubicBezTo>
                    <a:pt x="22832" y="0"/>
                    <a:pt x="12676" y="5199"/>
                    <a:pt x="6351" y="13974"/>
                  </a:cubicBezTo>
                  <a:cubicBezTo>
                    <a:pt x="27" y="22748"/>
                    <a:pt x="-1693" y="34028"/>
                    <a:pt x="1727" y="44288"/>
                  </a:cubicBezTo>
                  <a:lnTo>
                    <a:pt x="175401" y="565312"/>
                  </a:lnTo>
                  <a:cubicBezTo>
                    <a:pt x="184217" y="591760"/>
                    <a:pt x="208969" y="609600"/>
                    <a:pt x="236848" y="609600"/>
                  </a:cubicBezTo>
                  <a:lnTo>
                    <a:pt x="1095553" y="609600"/>
                  </a:lnTo>
                  <a:cubicBezTo>
                    <a:pt x="1106369" y="609600"/>
                    <a:pt x="1116525" y="604401"/>
                    <a:pt x="1122850" y="595626"/>
                  </a:cubicBezTo>
                  <a:cubicBezTo>
                    <a:pt x="1129174" y="586852"/>
                    <a:pt x="1130895" y="575572"/>
                    <a:pt x="1127474" y="565312"/>
                  </a:cubicBezTo>
                  <a:lnTo>
                    <a:pt x="953800" y="44288"/>
                  </a:lnTo>
                  <a:cubicBezTo>
                    <a:pt x="944984" y="17840"/>
                    <a:pt x="920232" y="0"/>
                    <a:pt x="892353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9520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123765" y="-1050850"/>
            <a:ext cx="4706419" cy="4706419"/>
          </a:xfrm>
          <a:custGeom>
            <a:avLst/>
            <a:gdLst/>
            <a:ahLst/>
            <a:cxnLst/>
            <a:rect r="r" b="b" t="t" l="l"/>
            <a:pathLst>
              <a:path h="4706419" w="4706419">
                <a:moveTo>
                  <a:pt x="0" y="0"/>
                </a:moveTo>
                <a:lnTo>
                  <a:pt x="4706419" y="0"/>
                </a:lnTo>
                <a:lnTo>
                  <a:pt x="4706419" y="4706419"/>
                </a:lnTo>
                <a:lnTo>
                  <a:pt x="0" y="470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28103" y="-683745"/>
            <a:ext cx="5026143" cy="5026143"/>
          </a:xfrm>
          <a:custGeom>
            <a:avLst/>
            <a:gdLst/>
            <a:ahLst/>
            <a:cxnLst/>
            <a:rect r="r" b="b" t="t" l="l"/>
            <a:pathLst>
              <a:path h="5026143" w="5026143">
                <a:moveTo>
                  <a:pt x="0" y="0"/>
                </a:moveTo>
                <a:lnTo>
                  <a:pt x="5026143" y="0"/>
                </a:lnTo>
                <a:lnTo>
                  <a:pt x="5026143" y="5026143"/>
                </a:lnTo>
                <a:lnTo>
                  <a:pt x="0" y="50261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66290" y="1146642"/>
            <a:ext cx="3549768" cy="3549768"/>
          </a:xfrm>
          <a:custGeom>
            <a:avLst/>
            <a:gdLst/>
            <a:ahLst/>
            <a:cxnLst/>
            <a:rect r="r" b="b" t="t" l="l"/>
            <a:pathLst>
              <a:path h="3549768" w="3549768">
                <a:moveTo>
                  <a:pt x="0" y="0"/>
                </a:moveTo>
                <a:lnTo>
                  <a:pt x="3549769" y="0"/>
                </a:lnTo>
                <a:lnTo>
                  <a:pt x="3549769" y="3549768"/>
                </a:lnTo>
                <a:lnTo>
                  <a:pt x="0" y="3549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68156" y="-394402"/>
            <a:ext cx="5757779" cy="4736800"/>
            <a:chOff x="0" y="0"/>
            <a:chExt cx="1381939" cy="11368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1939" cy="1136891"/>
            </a:xfrm>
            <a:custGeom>
              <a:avLst/>
              <a:gdLst/>
              <a:ahLst/>
              <a:cxnLst/>
              <a:rect r="r" b="b" t="t" l="l"/>
              <a:pathLst>
                <a:path h="1136891" w="1381939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088079" y="1136891"/>
                  </a:lnTo>
                  <a:cubicBezTo>
                    <a:pt x="1123987" y="1136891"/>
                    <a:pt x="1158143" y="1121372"/>
                    <a:pt x="1181763" y="1094326"/>
                  </a:cubicBezTo>
                  <a:lnTo>
                    <a:pt x="1340954" y="912044"/>
                  </a:lnTo>
                  <a:cubicBezTo>
                    <a:pt x="1367377" y="881787"/>
                    <a:pt x="1381939" y="842978"/>
                    <a:pt x="1381939" y="80280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10"/>
              <a:stretch>
                <a:fillRect l="-11644" t="0" r="-11644" b="0"/>
              </a:stretch>
            </a:blipFill>
            <a:ln w="38100" cap="sq">
              <a:solidFill>
                <a:srgbClr val="0B3D4D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true" flipV="false" rot="0">
            <a:off x="7917329" y="400786"/>
            <a:ext cx="798046" cy="226355"/>
          </a:xfrm>
          <a:custGeom>
            <a:avLst/>
            <a:gdLst/>
            <a:ahLst/>
            <a:cxnLst/>
            <a:rect r="r" b="b" t="t" l="l"/>
            <a:pathLst>
              <a:path h="226355" w="798046">
                <a:moveTo>
                  <a:pt x="798046" y="0"/>
                </a:moveTo>
                <a:lnTo>
                  <a:pt x="0" y="0"/>
                </a:lnTo>
                <a:lnTo>
                  <a:pt x="0" y="226355"/>
                </a:lnTo>
                <a:lnTo>
                  <a:pt x="798046" y="226355"/>
                </a:lnTo>
                <a:lnTo>
                  <a:pt x="79804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1911358" y="9060866"/>
            <a:ext cx="15990573" cy="2853706"/>
            <a:chOff x="0" y="0"/>
            <a:chExt cx="3514265" cy="6271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9230650" y="8022641"/>
            <a:ext cx="15990573" cy="2853706"/>
            <a:chOff x="0" y="0"/>
            <a:chExt cx="3514265" cy="6271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Ingoude Company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8052" y="1669464"/>
            <a:ext cx="743732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GOALS &amp; OBJECTIVES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052" y="5373421"/>
            <a:ext cx="707688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ead the CSV file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Show shape, types, missing %, duplicates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Auto-detect: Stock or SEC data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444522" y="5373421"/>
            <a:ext cx="7016816" cy="349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Stock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prices are missing, we fill them forward from the last known value.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volume is missing, we replace it with the median.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High is lower than Low, that row is deleted.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there's a volume spike, we flag it — but keep it.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there's a price crash, we flag it — but keep it.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073958" y="4609098"/>
            <a:ext cx="467499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1 — Load &amp; Detect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0428" y="4609098"/>
            <a:ext cx="504620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2 — Clean th</a:t>
            </a: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 Data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0815" y="0"/>
              <a:ext cx="482105" cy="184722"/>
            </a:xfrm>
            <a:custGeom>
              <a:avLst/>
              <a:gdLst/>
              <a:ahLst/>
              <a:cxnLst/>
              <a:rect r="r" b="b" t="t" l="l"/>
              <a:pathLst>
                <a:path h="184722" w="482105">
                  <a:moveTo>
                    <a:pt x="265785" y="0"/>
                  </a:moveTo>
                  <a:lnTo>
                    <a:pt x="13120" y="0"/>
                  </a:lnTo>
                  <a:cubicBezTo>
                    <a:pt x="7700" y="0"/>
                    <a:pt x="2838" y="3333"/>
                    <a:pt x="884" y="8389"/>
                  </a:cubicBezTo>
                  <a:cubicBezTo>
                    <a:pt x="-1071" y="13444"/>
                    <a:pt x="285" y="19181"/>
                    <a:pt x="4295" y="22827"/>
                  </a:cubicBezTo>
                  <a:lnTo>
                    <a:pt x="157275" y="161895"/>
                  </a:lnTo>
                  <a:cubicBezTo>
                    <a:pt x="173432" y="176583"/>
                    <a:pt x="194484" y="184722"/>
                    <a:pt x="216320" y="184722"/>
                  </a:cubicBezTo>
                  <a:lnTo>
                    <a:pt x="468985" y="184722"/>
                  </a:lnTo>
                  <a:cubicBezTo>
                    <a:pt x="474405" y="184722"/>
                    <a:pt x="479268" y="181389"/>
                    <a:pt x="481222" y="176333"/>
                  </a:cubicBezTo>
                  <a:cubicBezTo>
                    <a:pt x="483177" y="171278"/>
                    <a:pt x="481821" y="165541"/>
                    <a:pt x="477810" y="161895"/>
                  </a:cubicBezTo>
                  <a:lnTo>
                    <a:pt x="324831" y="22827"/>
                  </a:lnTo>
                  <a:cubicBezTo>
                    <a:pt x="308674" y="8139"/>
                    <a:pt x="287621" y="0"/>
                    <a:pt x="26578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44577" y="4878338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3932" y="9060866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27805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44452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454950">
            <a:off x="16421334" y="5407619"/>
            <a:ext cx="7346802" cy="2036826"/>
            <a:chOff x="0" y="0"/>
            <a:chExt cx="1511688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1688" cy="419100"/>
            </a:xfrm>
            <a:custGeom>
              <a:avLst/>
              <a:gdLst/>
              <a:ahLst/>
              <a:cxnLst/>
              <a:rect r="r" b="b" t="t" l="l"/>
              <a:pathLst>
                <a:path h="419100" w="1511688">
                  <a:moveTo>
                    <a:pt x="20582" y="0"/>
                  </a:moveTo>
                  <a:lnTo>
                    <a:pt x="1491106" y="0"/>
                  </a:lnTo>
                  <a:cubicBezTo>
                    <a:pt x="1502473" y="0"/>
                    <a:pt x="1511688" y="9215"/>
                    <a:pt x="1511688" y="20582"/>
                  </a:cubicBezTo>
                  <a:lnTo>
                    <a:pt x="1511688" y="398518"/>
                  </a:lnTo>
                  <a:cubicBezTo>
                    <a:pt x="1511688" y="409885"/>
                    <a:pt x="1502473" y="419100"/>
                    <a:pt x="1491106" y="419100"/>
                  </a:cubicBezTo>
                  <a:lnTo>
                    <a:pt x="20582" y="419100"/>
                  </a:lnTo>
                  <a:cubicBezTo>
                    <a:pt x="9215" y="419100"/>
                    <a:pt x="0" y="409885"/>
                    <a:pt x="0" y="398518"/>
                  </a:cubicBezTo>
                  <a:lnTo>
                    <a:pt x="0" y="20582"/>
                  </a:lnTo>
                  <a:cubicBezTo>
                    <a:pt x="0" y="9215"/>
                    <a:pt x="9215" y="0"/>
                    <a:pt x="20582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1168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21267" y="-128587"/>
            <a:ext cx="4809252" cy="2537685"/>
            <a:chOff x="0" y="0"/>
            <a:chExt cx="1155273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036" y="0"/>
              <a:ext cx="1129201" cy="609600"/>
            </a:xfrm>
            <a:custGeom>
              <a:avLst/>
              <a:gdLst/>
              <a:ahLst/>
              <a:cxnLst/>
              <a:rect r="r" b="b" t="t" l="l"/>
              <a:pathLst>
                <a:path h="609600" w="1129201">
                  <a:moveTo>
                    <a:pt x="892353" y="0"/>
                  </a:moveTo>
                  <a:lnTo>
                    <a:pt x="33648" y="0"/>
                  </a:lnTo>
                  <a:cubicBezTo>
                    <a:pt x="22832" y="0"/>
                    <a:pt x="12676" y="5199"/>
                    <a:pt x="6351" y="13974"/>
                  </a:cubicBezTo>
                  <a:cubicBezTo>
                    <a:pt x="27" y="22748"/>
                    <a:pt x="-1693" y="34028"/>
                    <a:pt x="1727" y="44288"/>
                  </a:cubicBezTo>
                  <a:lnTo>
                    <a:pt x="175401" y="565312"/>
                  </a:lnTo>
                  <a:cubicBezTo>
                    <a:pt x="184217" y="591760"/>
                    <a:pt x="208969" y="609600"/>
                    <a:pt x="236848" y="609600"/>
                  </a:cubicBezTo>
                  <a:lnTo>
                    <a:pt x="1095553" y="609600"/>
                  </a:lnTo>
                  <a:cubicBezTo>
                    <a:pt x="1106369" y="609600"/>
                    <a:pt x="1116525" y="604401"/>
                    <a:pt x="1122850" y="595626"/>
                  </a:cubicBezTo>
                  <a:cubicBezTo>
                    <a:pt x="1129174" y="586852"/>
                    <a:pt x="1130895" y="575572"/>
                    <a:pt x="1127474" y="565312"/>
                  </a:cubicBezTo>
                  <a:lnTo>
                    <a:pt x="953800" y="44288"/>
                  </a:lnTo>
                  <a:cubicBezTo>
                    <a:pt x="944984" y="17840"/>
                    <a:pt x="920232" y="0"/>
                    <a:pt x="892353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9520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123765" y="-1050850"/>
            <a:ext cx="4706419" cy="4706419"/>
          </a:xfrm>
          <a:custGeom>
            <a:avLst/>
            <a:gdLst/>
            <a:ahLst/>
            <a:cxnLst/>
            <a:rect r="r" b="b" t="t" l="l"/>
            <a:pathLst>
              <a:path h="4706419" w="4706419">
                <a:moveTo>
                  <a:pt x="0" y="0"/>
                </a:moveTo>
                <a:lnTo>
                  <a:pt x="4706419" y="0"/>
                </a:lnTo>
                <a:lnTo>
                  <a:pt x="4706419" y="4706419"/>
                </a:lnTo>
                <a:lnTo>
                  <a:pt x="0" y="470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28103" y="-683745"/>
            <a:ext cx="5026143" cy="5026143"/>
          </a:xfrm>
          <a:custGeom>
            <a:avLst/>
            <a:gdLst/>
            <a:ahLst/>
            <a:cxnLst/>
            <a:rect r="r" b="b" t="t" l="l"/>
            <a:pathLst>
              <a:path h="5026143" w="5026143">
                <a:moveTo>
                  <a:pt x="0" y="0"/>
                </a:moveTo>
                <a:lnTo>
                  <a:pt x="5026143" y="0"/>
                </a:lnTo>
                <a:lnTo>
                  <a:pt x="5026143" y="5026143"/>
                </a:lnTo>
                <a:lnTo>
                  <a:pt x="0" y="50261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66290" y="1146642"/>
            <a:ext cx="3549768" cy="3549768"/>
          </a:xfrm>
          <a:custGeom>
            <a:avLst/>
            <a:gdLst/>
            <a:ahLst/>
            <a:cxnLst/>
            <a:rect r="r" b="b" t="t" l="l"/>
            <a:pathLst>
              <a:path h="3549768" w="3549768">
                <a:moveTo>
                  <a:pt x="0" y="0"/>
                </a:moveTo>
                <a:lnTo>
                  <a:pt x="3549769" y="0"/>
                </a:lnTo>
                <a:lnTo>
                  <a:pt x="3549769" y="3549768"/>
                </a:lnTo>
                <a:lnTo>
                  <a:pt x="0" y="3549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68156" y="-394402"/>
            <a:ext cx="5757779" cy="4736800"/>
            <a:chOff x="0" y="0"/>
            <a:chExt cx="1381939" cy="11368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1939" cy="1136891"/>
            </a:xfrm>
            <a:custGeom>
              <a:avLst/>
              <a:gdLst/>
              <a:ahLst/>
              <a:cxnLst/>
              <a:rect r="r" b="b" t="t" l="l"/>
              <a:pathLst>
                <a:path h="1136891" w="1381939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088079" y="1136891"/>
                  </a:lnTo>
                  <a:cubicBezTo>
                    <a:pt x="1123987" y="1136891"/>
                    <a:pt x="1158143" y="1121372"/>
                    <a:pt x="1181763" y="1094326"/>
                  </a:cubicBezTo>
                  <a:lnTo>
                    <a:pt x="1340954" y="912044"/>
                  </a:lnTo>
                  <a:cubicBezTo>
                    <a:pt x="1367377" y="881787"/>
                    <a:pt x="1381939" y="842978"/>
                    <a:pt x="1381939" y="80280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10"/>
              <a:stretch>
                <a:fillRect l="-11644" t="0" r="-11644" b="0"/>
              </a:stretch>
            </a:blipFill>
            <a:ln w="38100" cap="sq">
              <a:solidFill>
                <a:srgbClr val="0B3D4D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true" flipV="false" rot="0">
            <a:off x="7917329" y="400786"/>
            <a:ext cx="798046" cy="226355"/>
          </a:xfrm>
          <a:custGeom>
            <a:avLst/>
            <a:gdLst/>
            <a:ahLst/>
            <a:cxnLst/>
            <a:rect r="r" b="b" t="t" l="l"/>
            <a:pathLst>
              <a:path h="226355" w="798046">
                <a:moveTo>
                  <a:pt x="798046" y="0"/>
                </a:moveTo>
                <a:lnTo>
                  <a:pt x="0" y="0"/>
                </a:lnTo>
                <a:lnTo>
                  <a:pt x="0" y="226355"/>
                </a:lnTo>
                <a:lnTo>
                  <a:pt x="798046" y="226355"/>
                </a:lnTo>
                <a:lnTo>
                  <a:pt x="79804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1911358" y="9060866"/>
            <a:ext cx="15990573" cy="2853706"/>
            <a:chOff x="0" y="0"/>
            <a:chExt cx="3514265" cy="6271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9230650" y="8022641"/>
            <a:ext cx="15990573" cy="2853706"/>
            <a:chOff x="0" y="0"/>
            <a:chExt cx="3514265" cy="6271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Ingoude Company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8052" y="1669464"/>
            <a:ext cx="743732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GOALS &amp; OBJECTIVES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052" y="5373421"/>
            <a:ext cx="7076888" cy="466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🏛️ SEC Mod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there are duplicate filings, we keep only the latest one.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here are conflicting values, we trust the restatement.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Q4 is missing, we calculate it (Full Year minus Q1+Q2+Q3).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 reven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ue tag changed over time, we unify it into one column.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444522" y="5373421"/>
            <a:ext cx="7016816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Calculat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e: Mean, Median, Std, Skew, Kurtosis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Explain shape in plain English</a:t>
            </a:r>
          </a:p>
          <a:p>
            <a:pPr algn="l" marL="949962" indent="-316654" lvl="2">
              <a:lnSpc>
                <a:spcPts val="308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"Rig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ht-skewed with heavy tails"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073958" y="4609098"/>
            <a:ext cx="53616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2 — Clean the Data(con)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0428" y="4609098"/>
            <a:ext cx="504620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3 — St</a:t>
            </a: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atistics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0815" y="0"/>
              <a:ext cx="482105" cy="184722"/>
            </a:xfrm>
            <a:custGeom>
              <a:avLst/>
              <a:gdLst/>
              <a:ahLst/>
              <a:cxnLst/>
              <a:rect r="r" b="b" t="t" l="l"/>
              <a:pathLst>
                <a:path h="184722" w="482105">
                  <a:moveTo>
                    <a:pt x="265785" y="0"/>
                  </a:moveTo>
                  <a:lnTo>
                    <a:pt x="13120" y="0"/>
                  </a:lnTo>
                  <a:cubicBezTo>
                    <a:pt x="7700" y="0"/>
                    <a:pt x="2838" y="3333"/>
                    <a:pt x="884" y="8389"/>
                  </a:cubicBezTo>
                  <a:cubicBezTo>
                    <a:pt x="-1071" y="13444"/>
                    <a:pt x="285" y="19181"/>
                    <a:pt x="4295" y="22827"/>
                  </a:cubicBezTo>
                  <a:lnTo>
                    <a:pt x="157275" y="161895"/>
                  </a:lnTo>
                  <a:cubicBezTo>
                    <a:pt x="173432" y="176583"/>
                    <a:pt x="194484" y="184722"/>
                    <a:pt x="216320" y="184722"/>
                  </a:cubicBezTo>
                  <a:lnTo>
                    <a:pt x="468985" y="184722"/>
                  </a:lnTo>
                  <a:cubicBezTo>
                    <a:pt x="474405" y="184722"/>
                    <a:pt x="479268" y="181389"/>
                    <a:pt x="481222" y="176333"/>
                  </a:cubicBezTo>
                  <a:cubicBezTo>
                    <a:pt x="483177" y="171278"/>
                    <a:pt x="481821" y="165541"/>
                    <a:pt x="477810" y="161895"/>
                  </a:cubicBezTo>
                  <a:lnTo>
                    <a:pt x="324831" y="22827"/>
                  </a:lnTo>
                  <a:cubicBezTo>
                    <a:pt x="308674" y="8139"/>
                    <a:pt x="287621" y="0"/>
                    <a:pt x="26578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44577" y="4878338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3932" y="9060866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27805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44452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454950">
            <a:off x="16421334" y="5407619"/>
            <a:ext cx="7346802" cy="2036826"/>
            <a:chOff x="0" y="0"/>
            <a:chExt cx="1511688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1688" cy="419100"/>
            </a:xfrm>
            <a:custGeom>
              <a:avLst/>
              <a:gdLst/>
              <a:ahLst/>
              <a:cxnLst/>
              <a:rect r="r" b="b" t="t" l="l"/>
              <a:pathLst>
                <a:path h="419100" w="1511688">
                  <a:moveTo>
                    <a:pt x="20582" y="0"/>
                  </a:moveTo>
                  <a:lnTo>
                    <a:pt x="1491106" y="0"/>
                  </a:lnTo>
                  <a:cubicBezTo>
                    <a:pt x="1502473" y="0"/>
                    <a:pt x="1511688" y="9215"/>
                    <a:pt x="1511688" y="20582"/>
                  </a:cubicBezTo>
                  <a:lnTo>
                    <a:pt x="1511688" y="398518"/>
                  </a:lnTo>
                  <a:cubicBezTo>
                    <a:pt x="1511688" y="409885"/>
                    <a:pt x="1502473" y="419100"/>
                    <a:pt x="1491106" y="419100"/>
                  </a:cubicBezTo>
                  <a:lnTo>
                    <a:pt x="20582" y="419100"/>
                  </a:lnTo>
                  <a:cubicBezTo>
                    <a:pt x="9215" y="419100"/>
                    <a:pt x="0" y="409885"/>
                    <a:pt x="0" y="398518"/>
                  </a:cubicBezTo>
                  <a:lnTo>
                    <a:pt x="0" y="20582"/>
                  </a:lnTo>
                  <a:cubicBezTo>
                    <a:pt x="0" y="9215"/>
                    <a:pt x="9215" y="0"/>
                    <a:pt x="20582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1168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21267" y="-128587"/>
            <a:ext cx="4809252" cy="2537685"/>
            <a:chOff x="0" y="0"/>
            <a:chExt cx="1155273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036" y="0"/>
              <a:ext cx="1129201" cy="609600"/>
            </a:xfrm>
            <a:custGeom>
              <a:avLst/>
              <a:gdLst/>
              <a:ahLst/>
              <a:cxnLst/>
              <a:rect r="r" b="b" t="t" l="l"/>
              <a:pathLst>
                <a:path h="609600" w="1129201">
                  <a:moveTo>
                    <a:pt x="892353" y="0"/>
                  </a:moveTo>
                  <a:lnTo>
                    <a:pt x="33648" y="0"/>
                  </a:lnTo>
                  <a:cubicBezTo>
                    <a:pt x="22832" y="0"/>
                    <a:pt x="12676" y="5199"/>
                    <a:pt x="6351" y="13974"/>
                  </a:cubicBezTo>
                  <a:cubicBezTo>
                    <a:pt x="27" y="22748"/>
                    <a:pt x="-1693" y="34028"/>
                    <a:pt x="1727" y="44288"/>
                  </a:cubicBezTo>
                  <a:lnTo>
                    <a:pt x="175401" y="565312"/>
                  </a:lnTo>
                  <a:cubicBezTo>
                    <a:pt x="184217" y="591760"/>
                    <a:pt x="208969" y="609600"/>
                    <a:pt x="236848" y="609600"/>
                  </a:cubicBezTo>
                  <a:lnTo>
                    <a:pt x="1095553" y="609600"/>
                  </a:lnTo>
                  <a:cubicBezTo>
                    <a:pt x="1106369" y="609600"/>
                    <a:pt x="1116525" y="604401"/>
                    <a:pt x="1122850" y="595626"/>
                  </a:cubicBezTo>
                  <a:cubicBezTo>
                    <a:pt x="1129174" y="586852"/>
                    <a:pt x="1130895" y="575572"/>
                    <a:pt x="1127474" y="565312"/>
                  </a:cubicBezTo>
                  <a:lnTo>
                    <a:pt x="953800" y="44288"/>
                  </a:lnTo>
                  <a:cubicBezTo>
                    <a:pt x="944984" y="17840"/>
                    <a:pt x="920232" y="0"/>
                    <a:pt x="892353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9520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123765" y="-1050850"/>
            <a:ext cx="4706419" cy="4706419"/>
          </a:xfrm>
          <a:custGeom>
            <a:avLst/>
            <a:gdLst/>
            <a:ahLst/>
            <a:cxnLst/>
            <a:rect r="r" b="b" t="t" l="l"/>
            <a:pathLst>
              <a:path h="4706419" w="4706419">
                <a:moveTo>
                  <a:pt x="0" y="0"/>
                </a:moveTo>
                <a:lnTo>
                  <a:pt x="4706419" y="0"/>
                </a:lnTo>
                <a:lnTo>
                  <a:pt x="4706419" y="4706419"/>
                </a:lnTo>
                <a:lnTo>
                  <a:pt x="0" y="470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28103" y="-683745"/>
            <a:ext cx="5026143" cy="5026143"/>
          </a:xfrm>
          <a:custGeom>
            <a:avLst/>
            <a:gdLst/>
            <a:ahLst/>
            <a:cxnLst/>
            <a:rect r="r" b="b" t="t" l="l"/>
            <a:pathLst>
              <a:path h="5026143" w="5026143">
                <a:moveTo>
                  <a:pt x="0" y="0"/>
                </a:moveTo>
                <a:lnTo>
                  <a:pt x="5026143" y="0"/>
                </a:lnTo>
                <a:lnTo>
                  <a:pt x="5026143" y="5026143"/>
                </a:lnTo>
                <a:lnTo>
                  <a:pt x="0" y="50261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66290" y="1146642"/>
            <a:ext cx="3549768" cy="3549768"/>
          </a:xfrm>
          <a:custGeom>
            <a:avLst/>
            <a:gdLst/>
            <a:ahLst/>
            <a:cxnLst/>
            <a:rect r="r" b="b" t="t" l="l"/>
            <a:pathLst>
              <a:path h="3549768" w="3549768">
                <a:moveTo>
                  <a:pt x="0" y="0"/>
                </a:moveTo>
                <a:lnTo>
                  <a:pt x="3549769" y="0"/>
                </a:lnTo>
                <a:lnTo>
                  <a:pt x="3549769" y="3549768"/>
                </a:lnTo>
                <a:lnTo>
                  <a:pt x="0" y="3549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68156" y="-394402"/>
            <a:ext cx="5757779" cy="4736800"/>
            <a:chOff x="0" y="0"/>
            <a:chExt cx="1381939" cy="11368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1939" cy="1136891"/>
            </a:xfrm>
            <a:custGeom>
              <a:avLst/>
              <a:gdLst/>
              <a:ahLst/>
              <a:cxnLst/>
              <a:rect r="r" b="b" t="t" l="l"/>
              <a:pathLst>
                <a:path h="1136891" w="1381939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088079" y="1136891"/>
                  </a:lnTo>
                  <a:cubicBezTo>
                    <a:pt x="1123987" y="1136891"/>
                    <a:pt x="1158143" y="1121372"/>
                    <a:pt x="1181763" y="1094326"/>
                  </a:cubicBezTo>
                  <a:lnTo>
                    <a:pt x="1340954" y="912044"/>
                  </a:lnTo>
                  <a:cubicBezTo>
                    <a:pt x="1367377" y="881787"/>
                    <a:pt x="1381939" y="842978"/>
                    <a:pt x="1381939" y="80280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10"/>
              <a:stretch>
                <a:fillRect l="-11644" t="0" r="-11644" b="0"/>
              </a:stretch>
            </a:blipFill>
            <a:ln w="38100" cap="sq">
              <a:solidFill>
                <a:srgbClr val="0B3D4D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true" flipV="false" rot="0">
            <a:off x="7917329" y="400786"/>
            <a:ext cx="798046" cy="226355"/>
          </a:xfrm>
          <a:custGeom>
            <a:avLst/>
            <a:gdLst/>
            <a:ahLst/>
            <a:cxnLst/>
            <a:rect r="r" b="b" t="t" l="l"/>
            <a:pathLst>
              <a:path h="226355" w="798046">
                <a:moveTo>
                  <a:pt x="798046" y="0"/>
                </a:moveTo>
                <a:lnTo>
                  <a:pt x="0" y="0"/>
                </a:lnTo>
                <a:lnTo>
                  <a:pt x="0" y="226355"/>
                </a:lnTo>
                <a:lnTo>
                  <a:pt x="798046" y="226355"/>
                </a:lnTo>
                <a:lnTo>
                  <a:pt x="79804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1911358" y="9060866"/>
            <a:ext cx="15990573" cy="2853706"/>
            <a:chOff x="0" y="0"/>
            <a:chExt cx="3514265" cy="6271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9230650" y="8022641"/>
            <a:ext cx="15990573" cy="2853706"/>
            <a:chOff x="0" y="0"/>
            <a:chExt cx="3514265" cy="6271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Ingoude Company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8052" y="1669464"/>
            <a:ext cx="743732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GOALS &amp; OBJECTIVES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052" y="5373421"/>
            <a:ext cx="7076888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figure, six panels: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Histogram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Main variable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Histogram — Secondary variable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plot — Secondary variable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plot — Returns /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Growth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Time series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Main variable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Time series — Secondary variable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444522" y="5373421"/>
            <a:ext cx="7016816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Save cl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eaned_data.csv   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Print final shape + first 5 rows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073958" y="4609098"/>
            <a:ext cx="536164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4 — Visualize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0240428" y="4609098"/>
            <a:ext cx="504620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 5 — Ou</a:t>
            </a:r>
            <a:r>
              <a:rPr lang="en-US" sz="2799" b="true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tput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0815" y="0"/>
              <a:ext cx="482105" cy="184722"/>
            </a:xfrm>
            <a:custGeom>
              <a:avLst/>
              <a:gdLst/>
              <a:ahLst/>
              <a:cxnLst/>
              <a:rect r="r" b="b" t="t" l="l"/>
              <a:pathLst>
                <a:path h="184722" w="482105">
                  <a:moveTo>
                    <a:pt x="265785" y="0"/>
                  </a:moveTo>
                  <a:lnTo>
                    <a:pt x="13120" y="0"/>
                  </a:lnTo>
                  <a:cubicBezTo>
                    <a:pt x="7700" y="0"/>
                    <a:pt x="2838" y="3333"/>
                    <a:pt x="884" y="8389"/>
                  </a:cubicBezTo>
                  <a:cubicBezTo>
                    <a:pt x="-1071" y="13444"/>
                    <a:pt x="285" y="19181"/>
                    <a:pt x="4295" y="22827"/>
                  </a:cubicBezTo>
                  <a:lnTo>
                    <a:pt x="157275" y="161895"/>
                  </a:lnTo>
                  <a:cubicBezTo>
                    <a:pt x="173432" y="176583"/>
                    <a:pt x="194484" y="184722"/>
                    <a:pt x="216320" y="184722"/>
                  </a:cubicBezTo>
                  <a:lnTo>
                    <a:pt x="468985" y="184722"/>
                  </a:lnTo>
                  <a:cubicBezTo>
                    <a:pt x="474405" y="184722"/>
                    <a:pt x="479268" y="181389"/>
                    <a:pt x="481222" y="176333"/>
                  </a:cubicBezTo>
                  <a:cubicBezTo>
                    <a:pt x="483177" y="171278"/>
                    <a:pt x="481821" y="165541"/>
                    <a:pt x="477810" y="161895"/>
                  </a:cubicBezTo>
                  <a:lnTo>
                    <a:pt x="324831" y="22827"/>
                  </a:lnTo>
                  <a:cubicBezTo>
                    <a:pt x="308674" y="8139"/>
                    <a:pt x="287621" y="0"/>
                    <a:pt x="26578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44577" y="4878338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3932" y="9060866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454950">
            <a:off x="16421334" y="5407619"/>
            <a:ext cx="7346802" cy="2036826"/>
            <a:chOff x="0" y="0"/>
            <a:chExt cx="1511688" cy="419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11688" cy="419100"/>
            </a:xfrm>
            <a:custGeom>
              <a:avLst/>
              <a:gdLst/>
              <a:ahLst/>
              <a:cxnLst/>
              <a:rect r="r" b="b" t="t" l="l"/>
              <a:pathLst>
                <a:path h="419100" w="1511688">
                  <a:moveTo>
                    <a:pt x="20582" y="0"/>
                  </a:moveTo>
                  <a:lnTo>
                    <a:pt x="1491106" y="0"/>
                  </a:lnTo>
                  <a:cubicBezTo>
                    <a:pt x="1502473" y="0"/>
                    <a:pt x="1511688" y="9215"/>
                    <a:pt x="1511688" y="20582"/>
                  </a:cubicBezTo>
                  <a:lnTo>
                    <a:pt x="1511688" y="398518"/>
                  </a:lnTo>
                  <a:cubicBezTo>
                    <a:pt x="1511688" y="409885"/>
                    <a:pt x="1502473" y="419100"/>
                    <a:pt x="1491106" y="419100"/>
                  </a:cubicBezTo>
                  <a:lnTo>
                    <a:pt x="20582" y="419100"/>
                  </a:lnTo>
                  <a:cubicBezTo>
                    <a:pt x="9215" y="419100"/>
                    <a:pt x="0" y="409885"/>
                    <a:pt x="0" y="398518"/>
                  </a:cubicBezTo>
                  <a:lnTo>
                    <a:pt x="0" y="20582"/>
                  </a:lnTo>
                  <a:cubicBezTo>
                    <a:pt x="0" y="9215"/>
                    <a:pt x="9215" y="0"/>
                    <a:pt x="20582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1168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21267" y="-128587"/>
            <a:ext cx="4809252" cy="2537685"/>
            <a:chOff x="0" y="0"/>
            <a:chExt cx="1155273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3036" y="0"/>
              <a:ext cx="1129201" cy="609600"/>
            </a:xfrm>
            <a:custGeom>
              <a:avLst/>
              <a:gdLst/>
              <a:ahLst/>
              <a:cxnLst/>
              <a:rect r="r" b="b" t="t" l="l"/>
              <a:pathLst>
                <a:path h="609600" w="1129201">
                  <a:moveTo>
                    <a:pt x="892353" y="0"/>
                  </a:moveTo>
                  <a:lnTo>
                    <a:pt x="33648" y="0"/>
                  </a:lnTo>
                  <a:cubicBezTo>
                    <a:pt x="22832" y="0"/>
                    <a:pt x="12676" y="5199"/>
                    <a:pt x="6351" y="13974"/>
                  </a:cubicBezTo>
                  <a:cubicBezTo>
                    <a:pt x="27" y="22748"/>
                    <a:pt x="-1693" y="34028"/>
                    <a:pt x="1727" y="44288"/>
                  </a:cubicBezTo>
                  <a:lnTo>
                    <a:pt x="175401" y="565312"/>
                  </a:lnTo>
                  <a:cubicBezTo>
                    <a:pt x="184217" y="591760"/>
                    <a:pt x="208969" y="609600"/>
                    <a:pt x="236848" y="609600"/>
                  </a:cubicBezTo>
                  <a:lnTo>
                    <a:pt x="1095553" y="609600"/>
                  </a:lnTo>
                  <a:cubicBezTo>
                    <a:pt x="1106369" y="609600"/>
                    <a:pt x="1116525" y="604401"/>
                    <a:pt x="1122850" y="595626"/>
                  </a:cubicBezTo>
                  <a:cubicBezTo>
                    <a:pt x="1129174" y="586852"/>
                    <a:pt x="1130895" y="575572"/>
                    <a:pt x="1127474" y="565312"/>
                  </a:cubicBezTo>
                  <a:lnTo>
                    <a:pt x="953800" y="44288"/>
                  </a:lnTo>
                  <a:cubicBezTo>
                    <a:pt x="944984" y="17840"/>
                    <a:pt x="920232" y="0"/>
                    <a:pt x="892353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9520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123765" y="-1050850"/>
            <a:ext cx="4706419" cy="4706419"/>
          </a:xfrm>
          <a:custGeom>
            <a:avLst/>
            <a:gdLst/>
            <a:ahLst/>
            <a:cxnLst/>
            <a:rect r="r" b="b" t="t" l="l"/>
            <a:pathLst>
              <a:path h="4706419" w="4706419">
                <a:moveTo>
                  <a:pt x="0" y="0"/>
                </a:moveTo>
                <a:lnTo>
                  <a:pt x="4706419" y="0"/>
                </a:lnTo>
                <a:lnTo>
                  <a:pt x="4706419" y="4706419"/>
                </a:lnTo>
                <a:lnTo>
                  <a:pt x="0" y="47064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28103" y="-683745"/>
            <a:ext cx="5026143" cy="5026143"/>
          </a:xfrm>
          <a:custGeom>
            <a:avLst/>
            <a:gdLst/>
            <a:ahLst/>
            <a:cxnLst/>
            <a:rect r="r" b="b" t="t" l="l"/>
            <a:pathLst>
              <a:path h="5026143" w="5026143">
                <a:moveTo>
                  <a:pt x="0" y="0"/>
                </a:moveTo>
                <a:lnTo>
                  <a:pt x="5026143" y="0"/>
                </a:lnTo>
                <a:lnTo>
                  <a:pt x="5026143" y="5026143"/>
                </a:lnTo>
                <a:lnTo>
                  <a:pt x="0" y="50261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66290" y="1146642"/>
            <a:ext cx="3549768" cy="3549768"/>
          </a:xfrm>
          <a:custGeom>
            <a:avLst/>
            <a:gdLst/>
            <a:ahLst/>
            <a:cxnLst/>
            <a:rect r="r" b="b" t="t" l="l"/>
            <a:pathLst>
              <a:path h="3549768" w="3549768">
                <a:moveTo>
                  <a:pt x="0" y="0"/>
                </a:moveTo>
                <a:lnTo>
                  <a:pt x="3549769" y="0"/>
                </a:lnTo>
                <a:lnTo>
                  <a:pt x="3549769" y="3549768"/>
                </a:lnTo>
                <a:lnTo>
                  <a:pt x="0" y="35497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668156" y="-394402"/>
            <a:ext cx="5757779" cy="4736800"/>
            <a:chOff x="0" y="0"/>
            <a:chExt cx="1381939" cy="1136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1939" cy="1136891"/>
            </a:xfrm>
            <a:custGeom>
              <a:avLst/>
              <a:gdLst/>
              <a:ahLst/>
              <a:cxnLst/>
              <a:rect r="r" b="b" t="t" l="l"/>
              <a:pathLst>
                <a:path h="1136891" w="1381939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088079" y="1136891"/>
                  </a:lnTo>
                  <a:cubicBezTo>
                    <a:pt x="1123987" y="1136891"/>
                    <a:pt x="1158143" y="1121372"/>
                    <a:pt x="1181763" y="1094326"/>
                  </a:cubicBezTo>
                  <a:lnTo>
                    <a:pt x="1340954" y="912044"/>
                  </a:lnTo>
                  <a:cubicBezTo>
                    <a:pt x="1367377" y="881787"/>
                    <a:pt x="1381939" y="842978"/>
                    <a:pt x="1381939" y="80280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8"/>
              <a:stretch>
                <a:fillRect l="-11644" t="0" r="-11644" b="0"/>
              </a:stretch>
            </a:blipFill>
            <a:ln w="38100" cap="sq">
              <a:solidFill>
                <a:srgbClr val="0B3D4D"/>
              </a:solidFill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true" flipV="false" rot="0">
            <a:off x="7917329" y="400786"/>
            <a:ext cx="798046" cy="226355"/>
          </a:xfrm>
          <a:custGeom>
            <a:avLst/>
            <a:gdLst/>
            <a:ahLst/>
            <a:cxnLst/>
            <a:rect r="r" b="b" t="t" l="l"/>
            <a:pathLst>
              <a:path h="226355" w="798046">
                <a:moveTo>
                  <a:pt x="798046" y="0"/>
                </a:moveTo>
                <a:lnTo>
                  <a:pt x="0" y="0"/>
                </a:lnTo>
                <a:lnTo>
                  <a:pt x="0" y="226355"/>
                </a:lnTo>
                <a:lnTo>
                  <a:pt x="798046" y="226355"/>
                </a:lnTo>
                <a:lnTo>
                  <a:pt x="79804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10800000">
            <a:off x="1911358" y="9060866"/>
            <a:ext cx="15990573" cy="2853706"/>
            <a:chOff x="0" y="0"/>
            <a:chExt cx="3514265" cy="6271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9230650" y="8022641"/>
            <a:ext cx="15990573" cy="2853706"/>
            <a:chOff x="0" y="0"/>
            <a:chExt cx="3514265" cy="6271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Ingoude Company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8052" y="1669464"/>
            <a:ext cx="743732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LINKS</a:t>
            </a:r>
          </a:p>
        </p:txBody>
      </p:sp>
      <p:grpSp>
        <p:nvGrpSpPr>
          <p:cNvPr name="Group 27" id="27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0815" y="0"/>
              <a:ext cx="482105" cy="184722"/>
            </a:xfrm>
            <a:custGeom>
              <a:avLst/>
              <a:gdLst/>
              <a:ahLst/>
              <a:cxnLst/>
              <a:rect r="r" b="b" t="t" l="l"/>
              <a:pathLst>
                <a:path h="184722" w="482105">
                  <a:moveTo>
                    <a:pt x="265785" y="0"/>
                  </a:moveTo>
                  <a:lnTo>
                    <a:pt x="13120" y="0"/>
                  </a:lnTo>
                  <a:cubicBezTo>
                    <a:pt x="7700" y="0"/>
                    <a:pt x="2838" y="3333"/>
                    <a:pt x="884" y="8389"/>
                  </a:cubicBezTo>
                  <a:cubicBezTo>
                    <a:pt x="-1071" y="13444"/>
                    <a:pt x="285" y="19181"/>
                    <a:pt x="4295" y="22827"/>
                  </a:cubicBezTo>
                  <a:lnTo>
                    <a:pt x="157275" y="161895"/>
                  </a:lnTo>
                  <a:cubicBezTo>
                    <a:pt x="173432" y="176583"/>
                    <a:pt x="194484" y="184722"/>
                    <a:pt x="216320" y="184722"/>
                  </a:cubicBezTo>
                  <a:lnTo>
                    <a:pt x="468985" y="184722"/>
                  </a:lnTo>
                  <a:cubicBezTo>
                    <a:pt x="474405" y="184722"/>
                    <a:pt x="479268" y="181389"/>
                    <a:pt x="481222" y="176333"/>
                  </a:cubicBezTo>
                  <a:cubicBezTo>
                    <a:pt x="483177" y="171278"/>
                    <a:pt x="481821" y="165541"/>
                    <a:pt x="477810" y="161895"/>
                  </a:cubicBezTo>
                  <a:lnTo>
                    <a:pt x="324831" y="22827"/>
                  </a:lnTo>
                  <a:cubicBezTo>
                    <a:pt x="308674" y="8139"/>
                    <a:pt x="287621" y="0"/>
                    <a:pt x="26578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11587" y="2843826"/>
            <a:ext cx="8073797" cy="3059960"/>
            <a:chOff x="0" y="0"/>
            <a:chExt cx="2126432" cy="8059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26432" cy="805915"/>
            </a:xfrm>
            <a:custGeom>
              <a:avLst/>
              <a:gdLst/>
              <a:ahLst/>
              <a:cxnLst/>
              <a:rect r="r" b="b" t="t" l="l"/>
              <a:pathLst>
                <a:path h="805915" w="2126432">
                  <a:moveTo>
                    <a:pt x="48904" y="0"/>
                  </a:moveTo>
                  <a:lnTo>
                    <a:pt x="2077528" y="0"/>
                  </a:lnTo>
                  <a:cubicBezTo>
                    <a:pt x="2104537" y="0"/>
                    <a:pt x="2126432" y="21895"/>
                    <a:pt x="2126432" y="48904"/>
                  </a:cubicBezTo>
                  <a:lnTo>
                    <a:pt x="2126432" y="757012"/>
                  </a:lnTo>
                  <a:cubicBezTo>
                    <a:pt x="2126432" y="769982"/>
                    <a:pt x="2121280" y="782421"/>
                    <a:pt x="2112108" y="791592"/>
                  </a:cubicBezTo>
                  <a:cubicBezTo>
                    <a:pt x="2102937" y="800763"/>
                    <a:pt x="2090498" y="805915"/>
                    <a:pt x="2077528" y="805915"/>
                  </a:cubicBezTo>
                  <a:lnTo>
                    <a:pt x="48904" y="805915"/>
                  </a:lnTo>
                  <a:cubicBezTo>
                    <a:pt x="21895" y="805915"/>
                    <a:pt x="0" y="784021"/>
                    <a:pt x="0" y="757012"/>
                  </a:cubicBezTo>
                  <a:lnTo>
                    <a:pt x="0" y="48904"/>
                  </a:lnTo>
                  <a:cubicBezTo>
                    <a:pt x="0" y="21895"/>
                    <a:pt x="21895" y="0"/>
                    <a:pt x="48904" y="0"/>
                  </a:cubicBezTo>
                  <a:close/>
                </a:path>
              </a:pathLst>
            </a:custGeom>
            <a:solidFill>
              <a:srgbClr val="5D545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126432" cy="853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219283" y="5995198"/>
            <a:ext cx="7867799" cy="3059828"/>
            <a:chOff x="0" y="0"/>
            <a:chExt cx="2072178" cy="80588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72178" cy="805881"/>
            </a:xfrm>
            <a:custGeom>
              <a:avLst/>
              <a:gdLst/>
              <a:ahLst/>
              <a:cxnLst/>
              <a:rect r="r" b="b" t="t" l="l"/>
              <a:pathLst>
                <a:path h="805881" w="2072178">
                  <a:moveTo>
                    <a:pt x="50184" y="0"/>
                  </a:moveTo>
                  <a:lnTo>
                    <a:pt x="2021994" y="0"/>
                  </a:lnTo>
                  <a:cubicBezTo>
                    <a:pt x="2035303" y="0"/>
                    <a:pt x="2048068" y="5287"/>
                    <a:pt x="2057479" y="14699"/>
                  </a:cubicBezTo>
                  <a:cubicBezTo>
                    <a:pt x="2066890" y="24110"/>
                    <a:pt x="2072178" y="36874"/>
                    <a:pt x="2072178" y="50184"/>
                  </a:cubicBezTo>
                  <a:lnTo>
                    <a:pt x="2072178" y="755697"/>
                  </a:lnTo>
                  <a:cubicBezTo>
                    <a:pt x="2072178" y="769006"/>
                    <a:pt x="2066890" y="781771"/>
                    <a:pt x="2057479" y="791182"/>
                  </a:cubicBezTo>
                  <a:cubicBezTo>
                    <a:pt x="2048068" y="800593"/>
                    <a:pt x="2035303" y="805881"/>
                    <a:pt x="2021994" y="805881"/>
                  </a:cubicBezTo>
                  <a:lnTo>
                    <a:pt x="50184" y="805881"/>
                  </a:lnTo>
                  <a:cubicBezTo>
                    <a:pt x="22468" y="805881"/>
                    <a:pt x="0" y="783413"/>
                    <a:pt x="0" y="755697"/>
                  </a:cubicBezTo>
                  <a:lnTo>
                    <a:pt x="0" y="50184"/>
                  </a:lnTo>
                  <a:cubicBezTo>
                    <a:pt x="0" y="36874"/>
                    <a:pt x="5287" y="24110"/>
                    <a:pt x="14699" y="14699"/>
                  </a:cubicBezTo>
                  <a:cubicBezTo>
                    <a:pt x="24110" y="5287"/>
                    <a:pt x="36874" y="0"/>
                    <a:pt x="50184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072178" cy="85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3933289" y="3190626"/>
            <a:ext cx="929885" cy="929885"/>
          </a:xfrm>
          <a:custGeom>
            <a:avLst/>
            <a:gdLst/>
            <a:ahLst/>
            <a:cxnLst/>
            <a:rect r="r" b="b" t="t" l="l"/>
            <a:pathLst>
              <a:path h="929885" w="929885">
                <a:moveTo>
                  <a:pt x="0" y="0"/>
                </a:moveTo>
                <a:lnTo>
                  <a:pt x="929885" y="0"/>
                </a:lnTo>
                <a:lnTo>
                  <a:pt x="929885" y="929885"/>
                </a:lnTo>
                <a:lnTo>
                  <a:pt x="0" y="929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3625492" y="4517023"/>
            <a:ext cx="749827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https://github.com/Abdalla820/AAPL-SEC-Financial-Facts-and-Filing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543932" y="7795451"/>
            <a:ext cx="69655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https://www.kaggle.com/datasets/blixture/apple-stocks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27729" y="3374390"/>
            <a:ext cx="328767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Github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05231" y="6551486"/>
            <a:ext cx="282224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Kaggle Dataset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5764545" y="6389561"/>
            <a:ext cx="633310" cy="796617"/>
          </a:xfrm>
          <a:custGeom>
            <a:avLst/>
            <a:gdLst/>
            <a:ahLst/>
            <a:cxnLst/>
            <a:rect r="r" b="b" t="t" l="l"/>
            <a:pathLst>
              <a:path h="796617" w="633310">
                <a:moveTo>
                  <a:pt x="0" y="0"/>
                </a:moveTo>
                <a:lnTo>
                  <a:pt x="633310" y="0"/>
                </a:lnTo>
                <a:lnTo>
                  <a:pt x="633310" y="796617"/>
                </a:lnTo>
                <a:lnTo>
                  <a:pt x="0" y="7966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8374" y="8351942"/>
            <a:ext cx="7423223" cy="7411820"/>
          </a:xfrm>
          <a:custGeom>
            <a:avLst/>
            <a:gdLst/>
            <a:ahLst/>
            <a:cxnLst/>
            <a:rect r="r" b="b" t="t" l="l"/>
            <a:pathLst>
              <a:path h="7411820" w="7423223">
                <a:moveTo>
                  <a:pt x="0" y="0"/>
                </a:moveTo>
                <a:lnTo>
                  <a:pt x="7423223" y="0"/>
                </a:lnTo>
                <a:lnTo>
                  <a:pt x="7423223" y="7411820"/>
                </a:lnTo>
                <a:lnTo>
                  <a:pt x="0" y="741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7608" y="3607298"/>
            <a:ext cx="6094828" cy="6094828"/>
          </a:xfrm>
          <a:custGeom>
            <a:avLst/>
            <a:gdLst/>
            <a:ahLst/>
            <a:cxnLst/>
            <a:rect r="r" b="b" t="t" l="l"/>
            <a:pathLst>
              <a:path h="6094828" w="6094828">
                <a:moveTo>
                  <a:pt x="0" y="0"/>
                </a:moveTo>
                <a:lnTo>
                  <a:pt x="6094827" y="0"/>
                </a:lnTo>
                <a:lnTo>
                  <a:pt x="6094827" y="6094828"/>
                </a:lnTo>
                <a:lnTo>
                  <a:pt x="0" y="609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453717" y="9258300"/>
            <a:ext cx="3977596" cy="2140341"/>
            <a:chOff x="0" y="0"/>
            <a:chExt cx="812800" cy="4373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9859" cy="437367"/>
            </a:xfrm>
            <a:custGeom>
              <a:avLst/>
              <a:gdLst/>
              <a:ahLst/>
              <a:cxnLst/>
              <a:rect r="r" b="b" t="t" l="l"/>
              <a:pathLst>
                <a:path h="437367" w="789859">
                  <a:moveTo>
                    <a:pt x="551209" y="0"/>
                  </a:moveTo>
                  <a:lnTo>
                    <a:pt x="58391" y="0"/>
                  </a:lnTo>
                  <a:cubicBezTo>
                    <a:pt x="42905" y="0"/>
                    <a:pt x="28053" y="6152"/>
                    <a:pt x="17102" y="17102"/>
                  </a:cubicBezTo>
                  <a:cubicBezTo>
                    <a:pt x="6152" y="28053"/>
                    <a:pt x="0" y="42905"/>
                    <a:pt x="0" y="58391"/>
                  </a:cubicBezTo>
                  <a:lnTo>
                    <a:pt x="0" y="378976"/>
                  </a:lnTo>
                  <a:cubicBezTo>
                    <a:pt x="0" y="411224"/>
                    <a:pt x="26143" y="437367"/>
                    <a:pt x="58391" y="437367"/>
                  </a:cubicBezTo>
                  <a:lnTo>
                    <a:pt x="551209" y="437367"/>
                  </a:lnTo>
                  <a:cubicBezTo>
                    <a:pt x="588445" y="437367"/>
                    <a:pt x="624000" y="421869"/>
                    <a:pt x="649347" y="394591"/>
                  </a:cubicBezTo>
                  <a:lnTo>
                    <a:pt x="773053" y="261459"/>
                  </a:lnTo>
                  <a:cubicBezTo>
                    <a:pt x="795461" y="237344"/>
                    <a:pt x="795461" y="200023"/>
                    <a:pt x="773053" y="175908"/>
                  </a:cubicBezTo>
                  <a:lnTo>
                    <a:pt x="649347" y="42776"/>
                  </a:lnTo>
                  <a:cubicBezTo>
                    <a:pt x="624000" y="15498"/>
                    <a:pt x="588445" y="0"/>
                    <a:pt x="551209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98500" cy="47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9282610" y="9258300"/>
            <a:ext cx="3977596" cy="2140341"/>
            <a:chOff x="0" y="0"/>
            <a:chExt cx="812800" cy="437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9859" cy="437367"/>
            </a:xfrm>
            <a:custGeom>
              <a:avLst/>
              <a:gdLst/>
              <a:ahLst/>
              <a:cxnLst/>
              <a:rect r="r" b="b" t="t" l="l"/>
              <a:pathLst>
                <a:path h="437367" w="789859">
                  <a:moveTo>
                    <a:pt x="551209" y="0"/>
                  </a:moveTo>
                  <a:lnTo>
                    <a:pt x="58391" y="0"/>
                  </a:lnTo>
                  <a:cubicBezTo>
                    <a:pt x="42905" y="0"/>
                    <a:pt x="28053" y="6152"/>
                    <a:pt x="17102" y="17102"/>
                  </a:cubicBezTo>
                  <a:cubicBezTo>
                    <a:pt x="6152" y="28053"/>
                    <a:pt x="0" y="42905"/>
                    <a:pt x="0" y="58391"/>
                  </a:cubicBezTo>
                  <a:lnTo>
                    <a:pt x="0" y="378976"/>
                  </a:lnTo>
                  <a:cubicBezTo>
                    <a:pt x="0" y="411224"/>
                    <a:pt x="26143" y="437367"/>
                    <a:pt x="58391" y="437367"/>
                  </a:cubicBezTo>
                  <a:lnTo>
                    <a:pt x="551209" y="437367"/>
                  </a:lnTo>
                  <a:cubicBezTo>
                    <a:pt x="588445" y="437367"/>
                    <a:pt x="624000" y="421869"/>
                    <a:pt x="649347" y="394591"/>
                  </a:cubicBezTo>
                  <a:lnTo>
                    <a:pt x="773053" y="261459"/>
                  </a:lnTo>
                  <a:cubicBezTo>
                    <a:pt x="795461" y="237344"/>
                    <a:pt x="795461" y="200023"/>
                    <a:pt x="773053" y="175908"/>
                  </a:cubicBezTo>
                  <a:lnTo>
                    <a:pt x="649347" y="42776"/>
                  </a:lnTo>
                  <a:cubicBezTo>
                    <a:pt x="624000" y="15498"/>
                    <a:pt x="588445" y="0"/>
                    <a:pt x="551209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98500" cy="47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10401" y="-2389055"/>
            <a:ext cx="8582605" cy="6166519"/>
            <a:chOff x="0" y="0"/>
            <a:chExt cx="569191" cy="408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091" y="0"/>
              <a:ext cx="539008" cy="408958"/>
            </a:xfrm>
            <a:custGeom>
              <a:avLst/>
              <a:gdLst/>
              <a:ahLst/>
              <a:cxnLst/>
              <a:rect r="r" b="b" t="t" l="l"/>
              <a:pathLst>
                <a:path h="408958" w="539008">
                  <a:moveTo>
                    <a:pt x="227799" y="0"/>
                  </a:moveTo>
                  <a:lnTo>
                    <a:pt x="514410" y="0"/>
                  </a:lnTo>
                  <a:cubicBezTo>
                    <a:pt x="522924" y="0"/>
                    <a:pt x="530833" y="4403"/>
                    <a:pt x="535319" y="11640"/>
                  </a:cubicBezTo>
                  <a:cubicBezTo>
                    <a:pt x="539804" y="18877"/>
                    <a:pt x="540228" y="27919"/>
                    <a:pt x="536439" y="35544"/>
                  </a:cubicBezTo>
                  <a:lnTo>
                    <a:pt x="368561" y="373414"/>
                  </a:lnTo>
                  <a:cubicBezTo>
                    <a:pt x="357742" y="395189"/>
                    <a:pt x="335525" y="408958"/>
                    <a:pt x="311210" y="408958"/>
                  </a:cubicBezTo>
                  <a:lnTo>
                    <a:pt x="24599" y="408958"/>
                  </a:lnTo>
                  <a:cubicBezTo>
                    <a:pt x="16085" y="408958"/>
                    <a:pt x="8176" y="404555"/>
                    <a:pt x="3691" y="397318"/>
                  </a:cubicBezTo>
                  <a:cubicBezTo>
                    <a:pt x="-795" y="390081"/>
                    <a:pt x="-1219" y="381039"/>
                    <a:pt x="2570" y="373414"/>
                  </a:cubicBezTo>
                  <a:lnTo>
                    <a:pt x="170448" y="35544"/>
                  </a:lnTo>
                  <a:cubicBezTo>
                    <a:pt x="181267" y="13770"/>
                    <a:pt x="203485" y="0"/>
                    <a:pt x="227799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365991" cy="44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853503" y="2133270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2610" y="400786"/>
            <a:ext cx="1370307" cy="388669"/>
          </a:xfrm>
          <a:custGeom>
            <a:avLst/>
            <a:gdLst/>
            <a:ahLst/>
            <a:cxnLst/>
            <a:rect r="r" b="b" t="t" l="l"/>
            <a:pathLst>
              <a:path h="388669" w="1370307">
                <a:moveTo>
                  <a:pt x="0" y="0"/>
                </a:moveTo>
                <a:lnTo>
                  <a:pt x="1370307" y="0"/>
                </a:lnTo>
                <a:lnTo>
                  <a:pt x="1370307" y="388669"/>
                </a:lnTo>
                <a:lnTo>
                  <a:pt x="0" y="388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3302" y="2136368"/>
            <a:ext cx="9883653" cy="182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8"/>
              </a:lnSpc>
            </a:pPr>
            <a:r>
              <a:rPr lang="en-US" sz="13748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5377" y="655787"/>
            <a:ext cx="42958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Abdalla Mohamed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3302" y="3869363"/>
            <a:ext cx="9883653" cy="114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5"/>
              </a:lnSpc>
            </a:pPr>
            <a:r>
              <a:rPr lang="en-US" sz="6782" b="true">
                <a:solidFill>
                  <a:srgbClr val="0B3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YOUR ATTENTION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73302" y="5391599"/>
            <a:ext cx="663193" cy="663193"/>
          </a:xfrm>
          <a:custGeom>
            <a:avLst/>
            <a:gdLst/>
            <a:ahLst/>
            <a:cxnLst/>
            <a:rect r="r" b="b" t="t" l="l"/>
            <a:pathLst>
              <a:path h="663193" w="663193">
                <a:moveTo>
                  <a:pt x="0" y="0"/>
                </a:moveTo>
                <a:lnTo>
                  <a:pt x="663193" y="0"/>
                </a:lnTo>
                <a:lnTo>
                  <a:pt x="663193" y="663193"/>
                </a:lnTo>
                <a:lnTo>
                  <a:pt x="0" y="6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73302" y="6494565"/>
            <a:ext cx="697943" cy="697943"/>
          </a:xfrm>
          <a:custGeom>
            <a:avLst/>
            <a:gdLst/>
            <a:ahLst/>
            <a:cxnLst/>
            <a:rect r="r" b="b" t="t" l="l"/>
            <a:pathLst>
              <a:path h="697943" w="697943">
                <a:moveTo>
                  <a:pt x="0" y="0"/>
                </a:moveTo>
                <a:lnTo>
                  <a:pt x="697943" y="0"/>
                </a:lnTo>
                <a:lnTo>
                  <a:pt x="697943" y="697943"/>
                </a:lnTo>
                <a:lnTo>
                  <a:pt x="0" y="6979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3302" y="7630658"/>
            <a:ext cx="680568" cy="680568"/>
          </a:xfrm>
          <a:custGeom>
            <a:avLst/>
            <a:gdLst/>
            <a:ahLst/>
            <a:cxnLst/>
            <a:rect r="r" b="b" t="t" l="l"/>
            <a:pathLst>
              <a:path h="680568" w="680568">
                <a:moveTo>
                  <a:pt x="0" y="0"/>
                </a:moveTo>
                <a:lnTo>
                  <a:pt x="680568" y="0"/>
                </a:lnTo>
                <a:lnTo>
                  <a:pt x="680568" y="680568"/>
                </a:lnTo>
                <a:lnTo>
                  <a:pt x="0" y="6805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16272" y="5427921"/>
            <a:ext cx="677446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abdallamohamed8354@gmail.com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16272" y="6529212"/>
            <a:ext cx="542403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5" tooltip="https://abdalla-portfolio-pi.vercel.app"/>
              </a:rPr>
              <a:t>Portfolio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16272" y="7656617"/>
            <a:ext cx="542403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+021205479856</a:t>
            </a:r>
          </a:p>
        </p:txBody>
      </p:sp>
      <p:grpSp>
        <p:nvGrpSpPr>
          <p:cNvPr name="Group 25" id="25"/>
          <p:cNvGrpSpPr/>
          <p:nvPr/>
        </p:nvGrpSpPr>
        <p:grpSpPr>
          <a:xfrm rot="-2841773">
            <a:off x="10369" y="4151123"/>
            <a:ext cx="803374" cy="9145654"/>
            <a:chOff x="0" y="0"/>
            <a:chExt cx="165303" cy="18818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95136" y="9229032"/>
            <a:ext cx="3878330" cy="1367891"/>
            <a:chOff x="0" y="0"/>
            <a:chExt cx="523736" cy="1847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796" y="0"/>
              <a:ext cx="504145" cy="184722"/>
            </a:xfrm>
            <a:custGeom>
              <a:avLst/>
              <a:gdLst/>
              <a:ahLst/>
              <a:cxnLst/>
              <a:rect r="r" b="b" t="t" l="l"/>
              <a:pathLst>
                <a:path h="184722" w="504145">
                  <a:moveTo>
                    <a:pt x="294770" y="0"/>
                  </a:moveTo>
                  <a:lnTo>
                    <a:pt x="6174" y="0"/>
                  </a:lnTo>
                  <a:cubicBezTo>
                    <a:pt x="3623" y="0"/>
                    <a:pt x="1335" y="1569"/>
                    <a:pt x="415" y="3948"/>
                  </a:cubicBezTo>
                  <a:cubicBezTo>
                    <a:pt x="-505" y="6327"/>
                    <a:pt x="133" y="9026"/>
                    <a:pt x="2021" y="10742"/>
                  </a:cubicBezTo>
                  <a:lnTo>
                    <a:pt x="181587" y="173980"/>
                  </a:lnTo>
                  <a:cubicBezTo>
                    <a:pt x="189191" y="180892"/>
                    <a:pt x="199098" y="184722"/>
                    <a:pt x="209374" y="184722"/>
                  </a:cubicBezTo>
                  <a:lnTo>
                    <a:pt x="497970" y="184722"/>
                  </a:lnTo>
                  <a:cubicBezTo>
                    <a:pt x="500521" y="184722"/>
                    <a:pt x="502809" y="183154"/>
                    <a:pt x="503729" y="180774"/>
                  </a:cubicBezTo>
                  <a:cubicBezTo>
                    <a:pt x="504648" y="178395"/>
                    <a:pt x="504010" y="175696"/>
                    <a:pt x="502123" y="173980"/>
                  </a:cubicBezTo>
                  <a:lnTo>
                    <a:pt x="322556" y="10742"/>
                  </a:lnTo>
                  <a:cubicBezTo>
                    <a:pt x="314953" y="3830"/>
                    <a:pt x="305046" y="0"/>
                    <a:pt x="294770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-626059" y="9718939"/>
            <a:ext cx="4702813" cy="1103346"/>
            <a:chOff x="0" y="0"/>
            <a:chExt cx="787344" cy="1847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2841773">
            <a:off x="-1651726" y="4931324"/>
            <a:ext cx="1587703" cy="9145654"/>
            <a:chOff x="0" y="0"/>
            <a:chExt cx="326688" cy="18818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2841773">
            <a:off x="-1965447" y="4151123"/>
            <a:ext cx="803374" cy="9145654"/>
            <a:chOff x="0" y="0"/>
            <a:chExt cx="165303" cy="18818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11447331" y="4293391"/>
            <a:ext cx="5990368" cy="6897901"/>
            <a:chOff x="0" y="0"/>
            <a:chExt cx="1934557" cy="2227640"/>
          </a:xfrm>
        </p:grpSpPr>
        <p:sp>
          <p:nvSpPr>
            <p:cNvPr name="Freeform 41" id="41"/>
            <p:cNvSpPr/>
            <p:nvPr/>
          </p:nvSpPr>
          <p:spPr>
            <a:xfrm flipH="true" flipV="false" rot="0">
              <a:off x="0" y="0"/>
              <a:ext cx="1934558" cy="2227640"/>
            </a:xfrm>
            <a:custGeom>
              <a:avLst/>
              <a:gdLst/>
              <a:ahLst/>
              <a:cxnLst/>
              <a:rect r="r" b="b" t="t" l="l"/>
              <a:pathLst>
                <a:path h="2227640" w="1934558">
                  <a:moveTo>
                    <a:pt x="101487" y="0"/>
                  </a:moveTo>
                  <a:lnTo>
                    <a:pt x="941121" y="0"/>
                  </a:lnTo>
                  <a:cubicBezTo>
                    <a:pt x="997170" y="0"/>
                    <a:pt x="1042607" y="45437"/>
                    <a:pt x="1042607" y="101486"/>
                  </a:cubicBezTo>
                  <a:lnTo>
                    <a:pt x="1042607" y="494266"/>
                  </a:lnTo>
                  <a:cubicBezTo>
                    <a:pt x="1042606" y="521182"/>
                    <a:pt x="1053298" y="546996"/>
                    <a:pt x="1072331" y="566028"/>
                  </a:cubicBezTo>
                  <a:cubicBezTo>
                    <a:pt x="1091363" y="585061"/>
                    <a:pt x="1117177" y="595753"/>
                    <a:pt x="1144092" y="595753"/>
                  </a:cubicBezTo>
                  <a:lnTo>
                    <a:pt x="1833073" y="595753"/>
                  </a:lnTo>
                  <a:cubicBezTo>
                    <a:pt x="1859988" y="595753"/>
                    <a:pt x="1885802" y="606445"/>
                    <a:pt x="1904834" y="625478"/>
                  </a:cubicBezTo>
                  <a:cubicBezTo>
                    <a:pt x="1923866" y="644510"/>
                    <a:pt x="1934558" y="670323"/>
                    <a:pt x="1934558" y="697239"/>
                  </a:cubicBezTo>
                  <a:lnTo>
                    <a:pt x="1934558" y="2126154"/>
                  </a:lnTo>
                  <a:cubicBezTo>
                    <a:pt x="1934558" y="2182203"/>
                    <a:pt x="1889122" y="2227640"/>
                    <a:pt x="1833073" y="2227640"/>
                  </a:cubicBezTo>
                  <a:lnTo>
                    <a:pt x="612561" y="2227640"/>
                  </a:lnTo>
                  <a:cubicBezTo>
                    <a:pt x="556512" y="2227640"/>
                    <a:pt x="511075" y="2182203"/>
                    <a:pt x="511075" y="2126154"/>
                  </a:cubicBezTo>
                  <a:lnTo>
                    <a:pt x="511075" y="986605"/>
                  </a:lnTo>
                  <a:cubicBezTo>
                    <a:pt x="511075" y="959689"/>
                    <a:pt x="500382" y="933875"/>
                    <a:pt x="481350" y="914843"/>
                  </a:cubicBezTo>
                  <a:cubicBezTo>
                    <a:pt x="462317" y="895811"/>
                    <a:pt x="436504" y="885119"/>
                    <a:pt x="409588" y="885119"/>
                  </a:cubicBezTo>
                  <a:lnTo>
                    <a:pt x="101486" y="885119"/>
                  </a:lnTo>
                  <a:cubicBezTo>
                    <a:pt x="74570" y="885119"/>
                    <a:pt x="48756" y="874426"/>
                    <a:pt x="29724" y="855394"/>
                  </a:cubicBezTo>
                  <a:cubicBezTo>
                    <a:pt x="10692" y="836361"/>
                    <a:pt x="0" y="810548"/>
                    <a:pt x="0" y="783632"/>
                  </a:cubicBezTo>
                  <a:lnTo>
                    <a:pt x="0" y="101486"/>
                  </a:lnTo>
                  <a:cubicBezTo>
                    <a:pt x="0" y="74570"/>
                    <a:pt x="10693" y="48756"/>
                    <a:pt x="29725" y="29724"/>
                  </a:cubicBezTo>
                  <a:cubicBezTo>
                    <a:pt x="48758" y="10692"/>
                    <a:pt x="74571" y="0"/>
                    <a:pt x="101487" y="0"/>
                  </a:cubicBezTo>
                  <a:close/>
                </a:path>
              </a:pathLst>
            </a:custGeom>
            <a:blipFill>
              <a:blip r:embed="rId16"/>
              <a:stretch>
                <a:fillRect l="-36905" t="0" r="-36905" b="0"/>
              </a:stretch>
            </a:blipFill>
            <a:ln w="38100" cap="sq">
              <a:solidFill>
                <a:srgbClr val="083839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DAHYMv5VGtE</dc:identifier>
  <dcterms:modified xsi:type="dcterms:W3CDTF">2011-08-01T06:04:30Z</dcterms:modified>
  <cp:revision>1</cp:revision>
  <dc:title>AAPL-SEC-Financial-Facts-and-Filing</dc:title>
</cp:coreProperties>
</file>